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81" r:id="rId4"/>
    <p:sldId id="274" r:id="rId5"/>
    <p:sldId id="282" r:id="rId6"/>
    <p:sldId id="271" r:id="rId7"/>
    <p:sldId id="257" r:id="rId8"/>
    <p:sldId id="284" r:id="rId9"/>
    <p:sldId id="283" r:id="rId10"/>
    <p:sldId id="285" r:id="rId11"/>
    <p:sldId id="286" r:id="rId12"/>
    <p:sldId id="279" r:id="rId13"/>
    <p:sldId id="287" r:id="rId14"/>
    <p:sldId id="288" r:id="rId15"/>
    <p:sldId id="269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CE9C9"/>
    <a:srgbClr val="F9D779"/>
    <a:srgbClr val="373433"/>
    <a:srgbClr val="F2F2F2"/>
    <a:srgbClr val="097C87"/>
    <a:srgbClr val="A1CCA6"/>
    <a:srgbClr val="FCA47C"/>
    <a:srgbClr val="23CE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ed\Desktop\DA%20ASSIGNMENTS\Portfolio\Supply_Chain%20Data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ed\Desktop\DA%20ASSIGNMENTS\Portfolio\Supply_Chain%20Data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ed\Desktop\DA%20ASSIGNMENTS\Portfolio\Supply_Chain%20Data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ed\Desktop\DA%20ASSIGNMENTS\Portfolio\Supply_Chain%20Data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ed\Desktop\DA%20ASSIGNMENTS\Portfolio\Supply_Chain%20Data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TOTAL</a:t>
            </a:r>
            <a:r>
              <a:rPr lang="en-US" sz="2000" b="1" baseline="0" dirty="0"/>
              <a:t> R</a:t>
            </a:r>
            <a:r>
              <a:rPr lang="en-US" sz="2000" b="1" dirty="0"/>
              <a:t>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Total_revenue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</c:f>
              <c:strCache>
                <c:ptCount val="3"/>
                <c:pt idx="0">
                  <c:v>skincare</c:v>
                </c:pt>
                <c:pt idx="1">
                  <c:v>haircare</c:v>
                </c:pt>
                <c:pt idx="2">
                  <c:v>cosmetics</c:v>
                </c:pt>
              </c:strCache>
            </c:strRef>
          </c:cat>
          <c:val>
            <c:numRef>
              <c:f>Sheet1!$B$3:$B$5</c:f>
              <c:numCache>
                <c:formatCode>General</c:formatCode>
                <c:ptCount val="3"/>
                <c:pt idx="0">
                  <c:v>241628.16</c:v>
                </c:pt>
                <c:pt idx="1">
                  <c:v>174455.39</c:v>
                </c:pt>
                <c:pt idx="2">
                  <c:v>161521.26999999999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3D-4F92-A2AF-C417596FF5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9778592"/>
        <c:axId val="1839779552"/>
      </c:barChart>
      <c:catAx>
        <c:axId val="1839778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9779552"/>
        <c:crosses val="autoZero"/>
        <c:auto val="1"/>
        <c:lblAlgn val="ctr"/>
        <c:lblOffset val="100"/>
        <c:noMultiLvlLbl val="0"/>
      </c:catAx>
      <c:valAx>
        <c:axId val="18397795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39778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UNIT</a:t>
            </a:r>
            <a:r>
              <a:rPr lang="en-US" sz="1600" b="1" baseline="0" dirty="0"/>
              <a:t> </a:t>
            </a:r>
            <a:r>
              <a:rPr lang="en-US" sz="1600" b="1" dirty="0"/>
              <a:t>SOLD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Sheet1!$B$45</c:f>
              <c:strCache>
                <c:ptCount val="1"/>
                <c:pt idx="0">
                  <c:v>Unit_Sold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Sheet1!$A$46:$A$48</c:f>
              <c:strCache>
                <c:ptCount val="3"/>
                <c:pt idx="0">
                  <c:v>skincare</c:v>
                </c:pt>
                <c:pt idx="1">
                  <c:v>haircare</c:v>
                </c:pt>
                <c:pt idx="2">
                  <c:v>cosmetics</c:v>
                </c:pt>
              </c:strCache>
            </c:strRef>
          </c:cat>
          <c:val>
            <c:numRef>
              <c:f>Sheet1!$B$46:$B$48</c:f>
              <c:numCache>
                <c:formatCode>General</c:formatCode>
                <c:ptCount val="3"/>
                <c:pt idx="0">
                  <c:v>20731</c:v>
                </c:pt>
                <c:pt idx="1">
                  <c:v>13611</c:v>
                </c:pt>
                <c:pt idx="2">
                  <c:v>11757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20-42A2-A202-659DCF265E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9781472"/>
        <c:axId val="1839758912"/>
      </c:barChart>
      <c:catAx>
        <c:axId val="183978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9758912"/>
        <c:crosses val="autoZero"/>
        <c:auto val="1"/>
        <c:lblAlgn val="ctr"/>
        <c:lblOffset val="100"/>
        <c:noMultiLvlLbl val="0"/>
      </c:catAx>
      <c:valAx>
        <c:axId val="183975891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3978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SEGMENTATION</a:t>
            </a:r>
            <a:r>
              <a:rPr lang="en-US" sz="1600" b="1" baseline="0" dirty="0"/>
              <a:t> OF </a:t>
            </a:r>
            <a:r>
              <a:rPr lang="en-US" sz="1600" b="1" dirty="0"/>
              <a:t>DEMOGRAPHIC REVENUE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Sheet1!$B$67</c:f>
              <c:strCache>
                <c:ptCount val="1"/>
                <c:pt idx="0">
                  <c:v>Revenue_Generated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Sheet1!$A$68:$A$71</c:f>
              <c:strCache>
                <c:ptCount val="4"/>
                <c:pt idx="0">
                  <c:v>Unknown</c:v>
                </c:pt>
                <c:pt idx="1">
                  <c:v>Female</c:v>
                </c:pt>
                <c:pt idx="2">
                  <c:v>Male</c:v>
                </c:pt>
                <c:pt idx="3">
                  <c:v>Non-binary</c:v>
                </c:pt>
              </c:strCache>
            </c:strRef>
          </c:cat>
          <c:val>
            <c:numRef>
              <c:f>Sheet1!$B$68:$B$71</c:f>
              <c:numCache>
                <c:formatCode>General</c:formatCode>
                <c:ptCount val="4"/>
                <c:pt idx="0">
                  <c:v>173090.13</c:v>
                </c:pt>
                <c:pt idx="1">
                  <c:v>161514.49</c:v>
                </c:pt>
                <c:pt idx="2">
                  <c:v>126634.39</c:v>
                </c:pt>
                <c:pt idx="3">
                  <c:v>116365.8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2-491E-9C57-6184E4E37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9772832"/>
        <c:axId val="1839777152"/>
      </c:barChart>
      <c:catAx>
        <c:axId val="1839772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9777152"/>
        <c:crosses val="autoZero"/>
        <c:auto val="1"/>
        <c:lblAlgn val="ctr"/>
        <c:lblOffset val="100"/>
        <c:noMultiLvlLbl val="0"/>
      </c:catAx>
      <c:valAx>
        <c:axId val="18397771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39772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LOCATION</a:t>
            </a:r>
            <a:r>
              <a:rPr lang="en-US" sz="1600" b="1" baseline="0" dirty="0"/>
              <a:t> SEGMENTATION </a:t>
            </a:r>
            <a:r>
              <a:rPr lang="en-US" sz="1600" b="1" dirty="0"/>
              <a:t>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200847856989349"/>
          <c:y val="0.10653453521767565"/>
          <c:w val="0.74811355380118016"/>
          <c:h val="0.863820134972194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Sheet1!$B$90</c:f>
              <c:strCache>
                <c:ptCount val="1"/>
                <c:pt idx="0">
                  <c:v>Revenue_generated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Sheet1!$A$91:$A$95</c:f>
              <c:strCache>
                <c:ptCount val="5"/>
                <c:pt idx="0">
                  <c:v>Delhi</c:v>
                </c:pt>
                <c:pt idx="1">
                  <c:v>Bangalore</c:v>
                </c:pt>
                <c:pt idx="2">
                  <c:v>Chennai</c:v>
                </c:pt>
                <c:pt idx="3">
                  <c:v>Kolkata</c:v>
                </c:pt>
                <c:pt idx="4">
                  <c:v>Mumbai</c:v>
                </c:pt>
              </c:strCache>
            </c:strRef>
          </c:cat>
          <c:val>
            <c:numRef>
              <c:f>Sheet1!$B$91:$B$95</c:f>
              <c:numCache>
                <c:formatCode>General</c:formatCode>
                <c:ptCount val="5"/>
                <c:pt idx="0">
                  <c:v>81027.7</c:v>
                </c:pt>
                <c:pt idx="1">
                  <c:v>102601.72</c:v>
                </c:pt>
                <c:pt idx="2">
                  <c:v>119142.82</c:v>
                </c:pt>
                <c:pt idx="3">
                  <c:v>137077.54999999999</c:v>
                </c:pt>
                <c:pt idx="4">
                  <c:v>137755.03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E0-4D1F-9D1D-68484CC025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39771392"/>
        <c:axId val="1839763232"/>
      </c:barChart>
      <c:catAx>
        <c:axId val="18397713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9763232"/>
        <c:crosses val="autoZero"/>
        <c:auto val="1"/>
        <c:lblAlgn val="ctr"/>
        <c:lblOffset val="100"/>
        <c:noMultiLvlLbl val="0"/>
      </c:catAx>
      <c:valAx>
        <c:axId val="18397632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39771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baseline="0" dirty="0"/>
              <a:t>BEST SUPPLIER REVENUE PER PRODUCT</a:t>
            </a:r>
            <a:endParaRPr lang="en-US" sz="16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Sheet1!$B$158</c:f>
              <c:strCache>
                <c:ptCount val="1"/>
                <c:pt idx="0">
                  <c:v>avg_revenue_per_unit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Sheet1!$A$159:$A$163</c:f>
              <c:strCache>
                <c:ptCount val="5"/>
                <c:pt idx="0">
                  <c:v>Supplier 2</c:v>
                </c:pt>
                <c:pt idx="1">
                  <c:v>Supplier 4</c:v>
                </c:pt>
                <c:pt idx="2">
                  <c:v>Supplier 3</c:v>
                </c:pt>
                <c:pt idx="3">
                  <c:v>Supplier 5</c:v>
                </c:pt>
                <c:pt idx="4">
                  <c:v>Supplier 1</c:v>
                </c:pt>
              </c:strCache>
            </c:strRef>
          </c:cat>
          <c:val>
            <c:numRef>
              <c:f>Sheet1!$B$159:$B$163</c:f>
              <c:numCache>
                <c:formatCode>General</c:formatCode>
                <c:ptCount val="5"/>
                <c:pt idx="0">
                  <c:v>11.34</c:v>
                </c:pt>
                <c:pt idx="1">
                  <c:v>12</c:v>
                </c:pt>
                <c:pt idx="2">
                  <c:v>12.1</c:v>
                </c:pt>
                <c:pt idx="3">
                  <c:v>12.74</c:v>
                </c:pt>
                <c:pt idx="4">
                  <c:v>14.22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36-480E-AC12-1EDE989FE5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39842432"/>
        <c:axId val="1839842912"/>
      </c:barChart>
      <c:catAx>
        <c:axId val="1839842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9842912"/>
        <c:crosses val="autoZero"/>
        <c:auto val="1"/>
        <c:lblAlgn val="ctr"/>
        <c:lblOffset val="100"/>
        <c:noMultiLvlLbl val="0"/>
      </c:catAx>
      <c:valAx>
        <c:axId val="183984291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39842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405E8-97A3-4F48-983A-0D2E77FC9DD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82BD7-66A7-4A05-AAB8-74F6C9448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54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82BD7-66A7-4A05-AAB8-74F6C94487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15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BED9-E46B-2C4A-1849-C8FF5044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47FE0-982D-0A91-BBAD-394D940EB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A933-CD09-55A6-3DB7-02C58C5BC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ABD62-DC2E-6814-D51F-206626771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82BD7-66A7-4A05-AAB8-74F6C94487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28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8D82-F103-837C-B153-B3DC2203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A2BE7-4EE8-11BA-9E5E-4ADAF2926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D8F19-215E-A50E-54C1-2E3BB28DD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8343F-91A8-37DF-835F-F39CE43EC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82BD7-66A7-4A05-AAB8-74F6C94487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9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2A0E-EB6A-EAE0-C72A-1308A28E2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AEBDA-0629-4241-44CE-7F75DFF82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AA67A-D3F6-E9DB-3FAC-DDEDE4F7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AD8BE-68FA-3F38-5592-9BDFAA66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73D28-7E35-9155-5C21-6D506507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3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48CF-4425-0272-4F7C-2BB542B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59484-03DE-A93C-637F-34220FD35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814A1-A6A2-2127-CDD8-23F828F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DECED-F9DA-DE39-1946-BDDCA95F9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BC8E-147F-CF6B-EC58-3138734F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3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6D54-6828-4D86-4555-B695D46D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F969D-77B7-86DE-281B-023E524D9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06966-60D5-46A2-9EAA-D1C2D34D5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A6C0A-80F1-69B9-710D-AAA165F8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64B08-B152-D2DB-66BB-2343B08F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7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E604-D6D6-5E21-5411-77EC0D1A3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0B06C-82B0-F991-192A-3A79B179C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D3216-2992-4C9D-BFD5-AC8244797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42BF6-1D4E-965B-3478-3DD778C90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D254C-F997-F7CA-B443-A43EF382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3CD3C-847B-6181-86DD-9AE3D024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1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E2F93-3CE3-49C9-8A73-D2CCDB30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32843-30DD-8EB8-0857-D7F5E20D3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7B8F8-2180-61C7-E971-B33F07EED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A5131-9B23-E7F8-CD2A-BC6055552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0CCBE6-4418-D375-49D7-23905B868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563FC-527C-F9C7-55B5-2DEEF2D3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A3F3-F679-4501-7A94-FB6C5178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94B24-6555-D254-C459-59D63C1B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5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5650-FCF1-B098-370C-6DD6796DC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28AB1-1E25-8467-0432-9C594405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14082-AEE8-02B3-A846-2E406FF0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543A7-DBC7-D7B5-CC67-964E5CC8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0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B8ED7-960B-CE96-5712-A8511A20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A3615-61FF-5FA2-CC82-8680BF2D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39275-B8D7-9D9E-3E1A-FC48BF37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30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52CF-9197-5776-9962-3E2B51B6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0BDFE-6615-D13F-A7B7-934BFE210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1AFAC-6F64-BB69-AAD9-618A9D817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65B79-5971-7E96-7C4E-69C224FE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978A5-2BC2-F7F6-5024-743809DD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558F8-DD8A-3E09-A7FD-ECE6BC50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64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6CD9-7C8A-23F5-50C1-C1B9FC40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E946F-3452-25A2-7DE9-90C688DF8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7EE2D-7873-2173-9273-B6367AEA6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AB3CD-275F-871D-944E-0AE88301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EA754-4466-D03B-9C83-0E731EE4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F46D3-9EAA-8C12-1A1E-F9A78FD9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2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8297C-8EAB-1E23-6FA6-51A5EA47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B1DB9-F95E-63F5-C57A-FF8C2143E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BB6B8-03AC-9DA3-3615-0576DC64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8D45C-E625-7ADD-2CC1-0F975860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BB635-7713-76FC-B391-C953F3DB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6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AE8C87-588B-CD3F-94AB-944DB77AC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44702-B74D-337D-870A-877F3B675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6D0B6-F5DE-E122-52EE-74A9679E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FAD85-78D2-582B-9F92-33A7DD0C2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E77DE-78D4-3949-64FD-FBD982C8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3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E62976-4ACD-DFFA-FC3E-083DD9FA9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5A21F-0287-DE40-643E-6CE3DB742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8A85A-0159-C62A-BC31-97A41F8D2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16409-BF60-4A63-A629-58D993B5345F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68ABF-9BEF-90A0-752A-DF27F0CD3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037C9-7B6A-0C59-1FA7-F0E2CA05B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0FA98-9604-4EAE-AD54-9F24B08A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9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F52C88D-1C36-F2E2-7788-A3A8128F9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988" y="0"/>
            <a:ext cx="4198012" cy="685800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34C71177-485D-53FD-26B8-139A9F653263}"/>
              </a:ext>
            </a:extLst>
          </p:cNvPr>
          <p:cNvSpPr/>
          <p:nvPr/>
        </p:nvSpPr>
        <p:spPr>
          <a:xfrm>
            <a:off x="892963" y="3116083"/>
            <a:ext cx="6272470" cy="631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A deep dive into revenue, costs, and customer insights.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17A59-26AB-8DE1-7F28-D91B031EB687}"/>
              </a:ext>
            </a:extLst>
          </p:cNvPr>
          <p:cNvSpPr txBox="1"/>
          <p:nvPr/>
        </p:nvSpPr>
        <p:spPr>
          <a:xfrm>
            <a:off x="48901" y="567162"/>
            <a:ext cx="7960594" cy="151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Analytics in Supply Chain</a:t>
            </a:r>
          </a:p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Unlocking Sales &amp; Revenue Potential 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3F7E22F-33D9-4041-6D3A-97EFEC186DA7}"/>
              </a:ext>
            </a:extLst>
          </p:cNvPr>
          <p:cNvSpPr/>
          <p:nvPr/>
        </p:nvSpPr>
        <p:spPr>
          <a:xfrm>
            <a:off x="892963" y="4011696"/>
            <a:ext cx="6272470" cy="210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Group Members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Syed Turab Ali Zaidi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Maha Chaudhary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Rana Saad Safdar</a:t>
            </a:r>
          </a:p>
          <a:p>
            <a:pPr algn="ctr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3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1E7D-5336-2451-3359-5FAAC24B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004108-4FCD-25FA-5AFA-18E02BF04C9B}"/>
              </a:ext>
            </a:extLst>
          </p:cNvPr>
          <p:cNvSpPr txBox="1"/>
          <p:nvPr/>
        </p:nvSpPr>
        <p:spPr>
          <a:xfrm>
            <a:off x="442798" y="454620"/>
            <a:ext cx="2565873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E8C491-AFD0-97E0-D2D5-83E80A6E5120}"/>
              </a:ext>
            </a:extLst>
          </p:cNvPr>
          <p:cNvGrpSpPr/>
          <p:nvPr/>
        </p:nvGrpSpPr>
        <p:grpSpPr>
          <a:xfrm>
            <a:off x="466724" y="1438421"/>
            <a:ext cx="118382" cy="4922743"/>
            <a:chOff x="466724" y="1438421"/>
            <a:chExt cx="118382" cy="492274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8F7A94-773F-93C1-50A0-ABFDADE4F022}"/>
                </a:ext>
              </a:extLst>
            </p:cNvPr>
            <p:cNvSpPr/>
            <p:nvPr/>
          </p:nvSpPr>
          <p:spPr>
            <a:xfrm>
              <a:off x="466724" y="1438421"/>
              <a:ext cx="114301" cy="66660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940EDB3-86B4-C3FC-16F2-83AE17268775}"/>
                </a:ext>
              </a:extLst>
            </p:cNvPr>
            <p:cNvSpPr/>
            <p:nvPr/>
          </p:nvSpPr>
          <p:spPr>
            <a:xfrm>
              <a:off x="470805" y="2502456"/>
              <a:ext cx="114301" cy="66660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EE750F-6363-996D-5A74-09C417655539}"/>
                </a:ext>
              </a:extLst>
            </p:cNvPr>
            <p:cNvSpPr/>
            <p:nvPr/>
          </p:nvSpPr>
          <p:spPr>
            <a:xfrm>
              <a:off x="470805" y="3566491"/>
              <a:ext cx="114301" cy="66660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546C60B-4808-8880-741C-2282FCB7A64B}"/>
                </a:ext>
              </a:extLst>
            </p:cNvPr>
            <p:cNvSpPr/>
            <p:nvPr/>
          </p:nvSpPr>
          <p:spPr>
            <a:xfrm>
              <a:off x="470805" y="4630526"/>
              <a:ext cx="114301" cy="66660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6B2264E-336E-1A54-E428-5FAE81774141}"/>
                </a:ext>
              </a:extLst>
            </p:cNvPr>
            <p:cNvSpPr/>
            <p:nvPr/>
          </p:nvSpPr>
          <p:spPr>
            <a:xfrm>
              <a:off x="470805" y="5694560"/>
              <a:ext cx="114301" cy="66660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6268FA3-8619-69AE-F9CE-E09FDC5C5C86}"/>
              </a:ext>
            </a:extLst>
          </p:cNvPr>
          <p:cNvSpPr txBox="1"/>
          <p:nvPr/>
        </p:nvSpPr>
        <p:spPr>
          <a:xfrm>
            <a:off x="796144" y="1413475"/>
            <a:ext cx="558220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68C5B0-A3E9-B57F-29CA-2402593551AD}"/>
              </a:ext>
            </a:extLst>
          </p:cNvPr>
          <p:cNvSpPr txBox="1"/>
          <p:nvPr/>
        </p:nvSpPr>
        <p:spPr>
          <a:xfrm>
            <a:off x="796144" y="2423930"/>
            <a:ext cx="558220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310B6D-2D5C-13C0-1937-211AD95EC130}"/>
              </a:ext>
            </a:extLst>
          </p:cNvPr>
          <p:cNvSpPr txBox="1"/>
          <p:nvPr/>
        </p:nvSpPr>
        <p:spPr>
          <a:xfrm>
            <a:off x="796144" y="3477894"/>
            <a:ext cx="558220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265325-A672-442D-20BA-49521731B934}"/>
              </a:ext>
            </a:extLst>
          </p:cNvPr>
          <p:cNvSpPr txBox="1"/>
          <p:nvPr/>
        </p:nvSpPr>
        <p:spPr>
          <a:xfrm>
            <a:off x="796144" y="4586227"/>
            <a:ext cx="558220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57B23-DD92-6C67-866D-66EC942C199E}"/>
              </a:ext>
            </a:extLst>
          </p:cNvPr>
          <p:cNvSpPr txBox="1"/>
          <p:nvPr/>
        </p:nvSpPr>
        <p:spPr>
          <a:xfrm>
            <a:off x="796144" y="5656419"/>
            <a:ext cx="558220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D7B075-41C8-82D7-22C7-61D64502708D}"/>
              </a:ext>
            </a:extLst>
          </p:cNvPr>
          <p:cNvSpPr txBox="1"/>
          <p:nvPr/>
        </p:nvSpPr>
        <p:spPr>
          <a:xfrm>
            <a:off x="1565402" y="1413475"/>
            <a:ext cx="1772129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DD07D9-BCFE-C1ED-2F7F-E2D1BF3633A6}"/>
              </a:ext>
            </a:extLst>
          </p:cNvPr>
          <p:cNvSpPr txBox="1"/>
          <p:nvPr/>
        </p:nvSpPr>
        <p:spPr>
          <a:xfrm>
            <a:off x="1565402" y="2413859"/>
            <a:ext cx="2342785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C9A971-E869-33FA-060B-60728F4A0ECC}"/>
              </a:ext>
            </a:extLst>
          </p:cNvPr>
          <p:cNvSpPr txBox="1"/>
          <p:nvPr/>
        </p:nvSpPr>
        <p:spPr>
          <a:xfrm>
            <a:off x="1565402" y="3477489"/>
            <a:ext cx="2342785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06B9CD-9D16-1B00-6AE0-2AB0A90AA96E}"/>
              </a:ext>
            </a:extLst>
          </p:cNvPr>
          <p:cNvSpPr txBox="1"/>
          <p:nvPr/>
        </p:nvSpPr>
        <p:spPr>
          <a:xfrm>
            <a:off x="1565402" y="4586226"/>
            <a:ext cx="2342785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194257-13AF-1B37-352C-A4CAFB7E0B21}"/>
              </a:ext>
            </a:extLst>
          </p:cNvPr>
          <p:cNvSpPr txBox="1"/>
          <p:nvPr/>
        </p:nvSpPr>
        <p:spPr>
          <a:xfrm>
            <a:off x="1565402" y="5618344"/>
            <a:ext cx="2342785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39C43C22-511A-FA8D-1144-A8EE5F8F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9" y="0"/>
            <a:ext cx="4145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5175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B84E9-E8D5-10FA-9671-E11337A0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9B5817F2-5B5D-DF77-2A4D-AA964AC745BA}"/>
              </a:ext>
            </a:extLst>
          </p:cNvPr>
          <p:cNvSpPr/>
          <p:nvPr/>
        </p:nvSpPr>
        <p:spPr>
          <a:xfrm>
            <a:off x="442798" y="1497388"/>
            <a:ext cx="11539651" cy="463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Problem Statement: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A business client wants to invest but is not clear which parameters should be prioritized: products,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buyers, locations, or suppliers.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Our Analysis: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We studied purchasing patterns, demographic trends, and supplier performance to address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these uncertainties.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Key Takeaway: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The insights highlight which products perform best, where the strongest markets are, and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which suppliers add the most value helping the client invest with confidence and maximize returns.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Gelasio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Gelasio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A4542-742A-923C-7C1B-2F26F2B2EE08}"/>
              </a:ext>
            </a:extLst>
          </p:cNvPr>
          <p:cNvSpPr txBox="1"/>
          <p:nvPr/>
        </p:nvSpPr>
        <p:spPr>
          <a:xfrm>
            <a:off x="442798" y="454620"/>
            <a:ext cx="7197276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1. WHY THIS ANALYSIS MATTERS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7ABEF7-1AB3-DD2F-26E0-43718F1308F5}"/>
              </a:ext>
            </a:extLst>
          </p:cNvPr>
          <p:cNvSpPr/>
          <p:nvPr/>
        </p:nvSpPr>
        <p:spPr>
          <a:xfrm>
            <a:off x="12090400" y="695587"/>
            <a:ext cx="101600" cy="54668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5560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1AC4E-4270-08BA-BB9E-D321461B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2. 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E1214-BF1E-0FF0-3DB5-BFE99573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96"/>
            <a:ext cx="10515600" cy="4083434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Dataset collected from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Kaggle on supply chain of 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ashion &amp; beauty Businesses.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Contains data 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products, sales, customers, suppliers, shipping, and costs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businesses analyze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product performance, supplier efficiency, regional revenue, and customer contribution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13157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C1C1-070D-2971-A8EB-26F8E529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843CF10F-82E9-03E9-6D7E-9553470DB90C}"/>
              </a:ext>
            </a:extLst>
          </p:cNvPr>
          <p:cNvSpPr/>
          <p:nvPr/>
        </p:nvSpPr>
        <p:spPr>
          <a:xfrm>
            <a:off x="747474" y="1668838"/>
            <a:ext cx="6948602" cy="276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provide clear, data-driven insights that guide the client in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prioritizing products, markets, and suppliers, ensuring smarter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investment decisions and higher profitability.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5968F-BB0C-DF48-0A67-07E90F8863E6}"/>
              </a:ext>
            </a:extLst>
          </p:cNvPr>
          <p:cNvSpPr txBox="1"/>
          <p:nvPr/>
        </p:nvSpPr>
        <p:spPr>
          <a:xfrm>
            <a:off x="747474" y="587970"/>
            <a:ext cx="6148502" cy="75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5550"/>
              </a:lnSpc>
              <a:buNone/>
              <a:defRPr sz="44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3. OBJECTIVE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0109D7FB-1092-C41D-5C24-8F9CB842C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276" y="45262"/>
            <a:ext cx="3821724" cy="681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61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47CE-C617-EF2C-D433-39655676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QUESTION 01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F0196828-72C4-BA65-1DCF-035A4C418073}"/>
              </a:ext>
            </a:extLst>
          </p:cNvPr>
          <p:cNvSpPr/>
          <p:nvPr/>
        </p:nvSpPr>
        <p:spPr>
          <a:xfrm>
            <a:off x="2943496" y="2033086"/>
            <a:ext cx="7107697" cy="1198951"/>
          </a:xfrm>
          <a:prstGeom prst="wedgeRectCallout">
            <a:avLst>
              <a:gd name="adj1" fmla="val -62512"/>
              <a:gd name="adj2" fmla="val -34342"/>
            </a:avLst>
          </a:prstGeom>
          <a:solidFill>
            <a:srgbClr val="FCE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want to know which product has the strongest potential. Where should I place my bet?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9FEAB1DC-97E4-576F-7660-CF1B0D7D69B9}"/>
              </a:ext>
            </a:extLst>
          </p:cNvPr>
          <p:cNvSpPr/>
          <p:nvPr/>
        </p:nvSpPr>
        <p:spPr>
          <a:xfrm>
            <a:off x="2323698" y="4435531"/>
            <a:ext cx="6610752" cy="1198951"/>
          </a:xfrm>
          <a:prstGeom prst="wedgeRectCallout">
            <a:avLst>
              <a:gd name="adj1" fmla="val 59784"/>
              <a:gd name="adj2" fmla="val -35588"/>
            </a:avLst>
          </a:prstGeom>
          <a:solidFill>
            <a:srgbClr val="FCE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Sure sir, let’s walk through the product analysis and see what the numbers reveal.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6B1CE7-FCFF-F567-C7CD-7297239C8437}"/>
              </a:ext>
            </a:extLst>
          </p:cNvPr>
          <p:cNvGrpSpPr/>
          <p:nvPr/>
        </p:nvGrpSpPr>
        <p:grpSpPr>
          <a:xfrm>
            <a:off x="9240308" y="3625964"/>
            <a:ext cx="2314727" cy="2520271"/>
            <a:chOff x="9420073" y="3875313"/>
            <a:chExt cx="2079599" cy="22642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A17919B-6324-E657-7784-34910B6BA9F9}"/>
                </a:ext>
              </a:extLst>
            </p:cNvPr>
            <p:cNvGrpSpPr/>
            <p:nvPr/>
          </p:nvGrpSpPr>
          <p:grpSpPr>
            <a:xfrm>
              <a:off x="9420073" y="3875313"/>
              <a:ext cx="2079599" cy="2079599"/>
              <a:chOff x="9420073" y="3875313"/>
              <a:chExt cx="2079599" cy="2079599"/>
            </a:xfrm>
          </p:grpSpPr>
          <p:pic>
            <p:nvPicPr>
              <p:cNvPr id="1026" name="Picture 2" descr="Data analysis - Free professions and jobs icons">
                <a:extLst>
                  <a:ext uri="{FF2B5EF4-FFF2-40B4-BE49-F238E27FC236}">
                    <a16:creationId xmlns:a16="http://schemas.microsoft.com/office/drawing/2014/main" id="{ED739508-8FEF-FBEB-EDF5-264C5578E9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20073" y="3875313"/>
                <a:ext cx="2079599" cy="20795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Arc 3">
                <a:extLst>
                  <a:ext uri="{FF2B5EF4-FFF2-40B4-BE49-F238E27FC236}">
                    <a16:creationId xmlns:a16="http://schemas.microsoft.com/office/drawing/2014/main" id="{41DA257F-3D66-0E0B-AA82-703326AB2AE6}"/>
                  </a:ext>
                </a:extLst>
              </p:cNvPr>
              <p:cNvSpPr/>
              <p:nvPr/>
            </p:nvSpPr>
            <p:spPr>
              <a:xfrm rot="8256740">
                <a:off x="10086730" y="4595869"/>
                <a:ext cx="337605" cy="236335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5086BA4-0739-2278-CBC3-3A60B89DB0B9}"/>
                  </a:ext>
                </a:extLst>
              </p:cNvPr>
              <p:cNvSpPr/>
              <p:nvPr/>
            </p:nvSpPr>
            <p:spPr>
              <a:xfrm>
                <a:off x="10096500" y="4572000"/>
                <a:ext cx="45719" cy="635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A82D062-62BF-5FB6-67D5-1564B1360A8C}"/>
                  </a:ext>
                </a:extLst>
              </p:cNvPr>
              <p:cNvSpPr/>
              <p:nvPr/>
            </p:nvSpPr>
            <p:spPr>
              <a:xfrm>
                <a:off x="10232672" y="4572000"/>
                <a:ext cx="45719" cy="635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065983-0839-0192-7BD7-68349EF8B133}"/>
                </a:ext>
              </a:extLst>
            </p:cNvPr>
            <p:cNvSpPr txBox="1"/>
            <p:nvPr/>
          </p:nvSpPr>
          <p:spPr>
            <a:xfrm>
              <a:off x="9621672" y="5770245"/>
              <a:ext cx="1562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Data Analyst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30E525B-64A1-4CE9-32C2-FEE6D063E412}"/>
              </a:ext>
            </a:extLst>
          </p:cNvPr>
          <p:cNvGrpSpPr/>
          <p:nvPr/>
        </p:nvGrpSpPr>
        <p:grpSpPr>
          <a:xfrm>
            <a:off x="647298" y="1589697"/>
            <a:ext cx="1810152" cy="2085727"/>
            <a:chOff x="466725" y="1143000"/>
            <a:chExt cx="1562100" cy="179991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5B12EB-39B5-F705-47AE-EEF766F6BDDF}"/>
                </a:ext>
              </a:extLst>
            </p:cNvPr>
            <p:cNvSpPr txBox="1"/>
            <p:nvPr/>
          </p:nvSpPr>
          <p:spPr>
            <a:xfrm>
              <a:off x="466725" y="2573580"/>
              <a:ext cx="1562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>
                  <a:latin typeface="Arial" panose="020B0604020202020204" pitchFamily="34" charset="0"/>
                  <a:cs typeface="Arial" panose="020B0604020202020204" pitchFamily="34" charset="0"/>
                </a:rPr>
                <a:t>Client</a:t>
              </a:r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8CEEC96-2544-7F6C-4706-EC1B4B35EF86}"/>
                </a:ext>
              </a:extLst>
            </p:cNvPr>
            <p:cNvGrpSpPr/>
            <p:nvPr/>
          </p:nvGrpSpPr>
          <p:grpSpPr>
            <a:xfrm>
              <a:off x="580363" y="1143000"/>
              <a:ext cx="1334824" cy="1437774"/>
              <a:chOff x="580363" y="1143000"/>
              <a:chExt cx="1334824" cy="1437774"/>
            </a:xfrm>
          </p:grpSpPr>
          <p:pic>
            <p:nvPicPr>
              <p:cNvPr id="1036" name="Picture 12" descr="Download Free Client Icons in PNG &amp; SVG">
                <a:extLst>
                  <a:ext uri="{FF2B5EF4-FFF2-40B4-BE49-F238E27FC236}">
                    <a16:creationId xmlns:a16="http://schemas.microsoft.com/office/drawing/2014/main" id="{418076AB-761D-590A-CA97-C9AB1B9C22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40" t="91" r="15780" b="25716"/>
              <a:stretch>
                <a:fillRect/>
              </a:stretch>
            </p:blipFill>
            <p:spPr bwMode="auto">
              <a:xfrm>
                <a:off x="580363" y="1143000"/>
                <a:ext cx="1334824" cy="14377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F9017A67-15F0-4420-23B0-6C19160F0202}"/>
                  </a:ext>
                </a:extLst>
              </p:cNvPr>
              <p:cNvSpPr/>
              <p:nvPr/>
            </p:nvSpPr>
            <p:spPr>
              <a:xfrm rot="9077165">
                <a:off x="1116698" y="1550987"/>
                <a:ext cx="355600" cy="279400"/>
              </a:xfrm>
              <a:prstGeom prst="arc">
                <a:avLst>
                  <a:gd name="adj1" fmla="val 17663829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75B3F0D-BA14-36C7-AE62-AE0369F10AB6}"/>
                  </a:ext>
                </a:extLst>
              </p:cNvPr>
              <p:cNvSpPr/>
              <p:nvPr/>
            </p:nvSpPr>
            <p:spPr>
              <a:xfrm>
                <a:off x="1161933" y="158353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F96718C-6E8D-C687-5D1E-2031E3979B2C}"/>
                  </a:ext>
                </a:extLst>
              </p:cNvPr>
              <p:cNvSpPr/>
              <p:nvPr/>
            </p:nvSpPr>
            <p:spPr>
              <a:xfrm>
                <a:off x="1316882" y="158353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1D75BE-F5B3-EDE6-247F-1EEC4CFFFB6A}"/>
              </a:ext>
            </a:extLst>
          </p:cNvPr>
          <p:cNvGrpSpPr/>
          <p:nvPr/>
        </p:nvGrpSpPr>
        <p:grpSpPr>
          <a:xfrm>
            <a:off x="-21231" y="1391174"/>
            <a:ext cx="5488057" cy="5466826"/>
            <a:chOff x="-21231" y="1391174"/>
            <a:chExt cx="5488057" cy="546682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5EF0B62-4DC0-FE67-195A-60E3F93DBA21}"/>
                </a:ext>
              </a:extLst>
            </p:cNvPr>
            <p:cNvSpPr/>
            <p:nvPr/>
          </p:nvSpPr>
          <p:spPr>
            <a:xfrm rot="5400000">
              <a:off x="2682613" y="4073787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1A27B2C-CDFD-F059-1845-1D86CE537163}"/>
                </a:ext>
              </a:extLst>
            </p:cNvPr>
            <p:cNvSpPr/>
            <p:nvPr/>
          </p:nvSpPr>
          <p:spPr>
            <a:xfrm rot="10800000">
              <a:off x="-21231" y="1391174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5A1150-3F01-1F4F-FA49-AC48DA9D627F}"/>
              </a:ext>
            </a:extLst>
          </p:cNvPr>
          <p:cNvGrpSpPr/>
          <p:nvPr/>
        </p:nvGrpSpPr>
        <p:grpSpPr>
          <a:xfrm rot="10800000">
            <a:off x="6703943" y="0"/>
            <a:ext cx="5488057" cy="5466826"/>
            <a:chOff x="-21231" y="1391174"/>
            <a:chExt cx="5488057" cy="546682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4799378-A4EF-15E4-0348-260ED751BFAE}"/>
                </a:ext>
              </a:extLst>
            </p:cNvPr>
            <p:cNvSpPr/>
            <p:nvPr/>
          </p:nvSpPr>
          <p:spPr>
            <a:xfrm rot="5400000">
              <a:off x="2682613" y="4073787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65F1FDB-C5AF-7CC3-3984-44DF916BE51F}"/>
                </a:ext>
              </a:extLst>
            </p:cNvPr>
            <p:cNvSpPr/>
            <p:nvPr/>
          </p:nvSpPr>
          <p:spPr>
            <a:xfrm rot="10800000">
              <a:off x="-21231" y="1391174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213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C0FB-801A-CCCF-A44B-71F4BB93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A8686C-D97E-50AD-CE28-99D996349092}"/>
              </a:ext>
            </a:extLst>
          </p:cNvPr>
          <p:cNvSpPr/>
          <p:nvPr/>
        </p:nvSpPr>
        <p:spPr>
          <a:xfrm>
            <a:off x="556617" y="549660"/>
            <a:ext cx="5539383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TOTAL REVENUE BY PRODUCT TYPE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D7BEA-903B-B602-C942-45F21A29EF3B}"/>
              </a:ext>
            </a:extLst>
          </p:cNvPr>
          <p:cNvSpPr txBox="1"/>
          <p:nvPr/>
        </p:nvSpPr>
        <p:spPr>
          <a:xfrm>
            <a:off x="556617" y="1447800"/>
            <a:ext cx="523439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Skincare contributes the highest revenue.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Haircare and Cosmetics follow behind.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Focus more on skincare inventory &amp; marketing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669C98F-9BFA-B260-FDA9-DDD7938948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0389759"/>
              </p:ext>
            </p:extLst>
          </p:nvPr>
        </p:nvGraphicFramePr>
        <p:xfrm>
          <a:off x="6496050" y="1447800"/>
          <a:ext cx="5059449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882985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364C-DFDC-7659-BA4B-A251688F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16F065-EE89-F01B-6212-91616347AA10}"/>
              </a:ext>
            </a:extLst>
          </p:cNvPr>
          <p:cNvSpPr/>
          <p:nvPr/>
        </p:nvSpPr>
        <p:spPr>
          <a:xfrm>
            <a:off x="556617" y="549660"/>
            <a:ext cx="5539383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REVENUE PER UNIT &amp; UNITS SOLD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0">
            <a:extLst>
              <a:ext uri="{FF2B5EF4-FFF2-40B4-BE49-F238E27FC236}">
                <a16:creationId xmlns:a16="http://schemas.microsoft.com/office/drawing/2014/main" id="{FD9D7DF6-A128-EAA2-B4C4-4BA30C6989F8}"/>
              </a:ext>
            </a:extLst>
          </p:cNvPr>
          <p:cNvSpPr/>
          <p:nvPr/>
        </p:nvSpPr>
        <p:spPr>
          <a:xfrm>
            <a:off x="8585155" y="4383534"/>
            <a:ext cx="1414426" cy="176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defRPr sz="1600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/>
              <a:t>HIGHEST AVERAGE REVENUE PER UNIT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9FEEBBD-2831-1DBC-84C6-DCF5031844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6384061"/>
              </p:ext>
            </p:extLst>
          </p:nvPr>
        </p:nvGraphicFramePr>
        <p:xfrm>
          <a:off x="7053854" y="1032578"/>
          <a:ext cx="4477028" cy="3204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A828952-21A9-00AB-5A92-133B8CC9B180}"/>
              </a:ext>
            </a:extLst>
          </p:cNvPr>
          <p:cNvSpPr txBox="1"/>
          <p:nvPr/>
        </p:nvSpPr>
        <p:spPr>
          <a:xfrm>
            <a:off x="556617" y="1307331"/>
            <a:ext cx="5912065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200000"/>
              </a:lnSpc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Insights: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Premium cosmetics = low sales volume but high profit margin.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Skincare = steady revenue with moderate margin.</a:t>
            </a:r>
          </a:p>
          <a:p>
            <a:r>
              <a:rPr lang="en-US" dirty="0"/>
              <a:t>Recommendation: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Keep skincare as the revenue backbone.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E3684BE-A765-4182-FD4D-B76268A70DE0}"/>
              </a:ext>
            </a:extLst>
          </p:cNvPr>
          <p:cNvGrpSpPr/>
          <p:nvPr/>
        </p:nvGrpSpPr>
        <p:grpSpPr>
          <a:xfrm>
            <a:off x="7053854" y="4668673"/>
            <a:ext cx="4477028" cy="1812558"/>
            <a:chOff x="480373" y="4514691"/>
            <a:chExt cx="4741951" cy="1958610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0B7BA1AD-ED28-FF46-F59A-C7FBAAC7B04A}"/>
                </a:ext>
              </a:extLst>
            </p:cNvPr>
            <p:cNvSpPr/>
            <p:nvPr/>
          </p:nvSpPr>
          <p:spPr>
            <a:xfrm>
              <a:off x="480373" y="4635493"/>
              <a:ext cx="4741951" cy="531442"/>
            </a:xfrm>
            <a:prstGeom prst="roundRect">
              <a:avLst>
                <a:gd name="adj" fmla="val 7672"/>
              </a:avLst>
            </a:prstGeom>
            <a:solidFill>
              <a:srgbClr val="F2F2F2"/>
            </a:solidFill>
            <a:ln/>
          </p:spPr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EAB7999F-71FB-DA86-B581-8762DB62DFB3}"/>
                </a:ext>
              </a:extLst>
            </p:cNvPr>
            <p:cNvSpPr/>
            <p:nvPr/>
          </p:nvSpPr>
          <p:spPr>
            <a:xfrm>
              <a:off x="480373" y="4624145"/>
              <a:ext cx="4741951" cy="45387"/>
            </a:xfrm>
            <a:prstGeom prst="roundRect">
              <a:avLst>
                <a:gd name="adj" fmla="val 30134"/>
              </a:avLst>
            </a:prstGeom>
            <a:solidFill>
              <a:srgbClr val="C49F8C"/>
            </a:solidFill>
            <a:ln/>
          </p:spPr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09B3F275-CC78-FD54-CB9F-C9C4F943EF09}"/>
                </a:ext>
              </a:extLst>
            </p:cNvPr>
            <p:cNvSpPr/>
            <p:nvPr/>
          </p:nvSpPr>
          <p:spPr>
            <a:xfrm>
              <a:off x="2722085" y="4514691"/>
              <a:ext cx="258526" cy="273477"/>
            </a:xfrm>
            <a:prstGeom prst="roundRect">
              <a:avLst>
                <a:gd name="adj" fmla="val 248946"/>
              </a:avLst>
            </a:prstGeom>
            <a:solidFill>
              <a:srgbClr val="C49F8C"/>
            </a:solidFill>
            <a:ln/>
          </p:spPr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A72B3A96-96F8-F497-95CF-50DB8DD6F23F}"/>
                </a:ext>
              </a:extLst>
            </p:cNvPr>
            <p:cNvSpPr/>
            <p:nvPr/>
          </p:nvSpPr>
          <p:spPr>
            <a:xfrm>
              <a:off x="2799601" y="4528288"/>
              <a:ext cx="103410" cy="1366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1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C98C5906-51AD-C889-3930-70E0E2976C10}"/>
                </a:ext>
              </a:extLst>
            </p:cNvPr>
            <p:cNvSpPr/>
            <p:nvPr/>
          </p:nvSpPr>
          <p:spPr>
            <a:xfrm>
              <a:off x="577246" y="4868826"/>
              <a:ext cx="1077427" cy="142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Cosmetics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7">
              <a:extLst>
                <a:ext uri="{FF2B5EF4-FFF2-40B4-BE49-F238E27FC236}">
                  <a16:creationId xmlns:a16="http://schemas.microsoft.com/office/drawing/2014/main" id="{87762236-1D66-8D9B-466A-444D3FACFFE8}"/>
                </a:ext>
              </a:extLst>
            </p:cNvPr>
            <p:cNvSpPr/>
            <p:nvPr/>
          </p:nvSpPr>
          <p:spPr>
            <a:xfrm>
              <a:off x="4376374" y="4845781"/>
              <a:ext cx="624251" cy="1885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13.74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Shape 2">
              <a:extLst>
                <a:ext uri="{FF2B5EF4-FFF2-40B4-BE49-F238E27FC236}">
                  <a16:creationId xmlns:a16="http://schemas.microsoft.com/office/drawing/2014/main" id="{EBB7843B-EF73-71B8-E74C-B59AD704DDFC}"/>
                </a:ext>
              </a:extLst>
            </p:cNvPr>
            <p:cNvSpPr/>
            <p:nvPr/>
          </p:nvSpPr>
          <p:spPr>
            <a:xfrm>
              <a:off x="480373" y="5318511"/>
              <a:ext cx="4741951" cy="531442"/>
            </a:xfrm>
            <a:prstGeom prst="roundRect">
              <a:avLst>
                <a:gd name="adj" fmla="val 7672"/>
              </a:avLst>
            </a:prstGeom>
            <a:solidFill>
              <a:srgbClr val="F2F2F2"/>
            </a:solidFill>
            <a:ln/>
          </p:spPr>
        </p:sp>
        <p:sp>
          <p:nvSpPr>
            <p:cNvPr id="46" name="Shape 3">
              <a:extLst>
                <a:ext uri="{FF2B5EF4-FFF2-40B4-BE49-F238E27FC236}">
                  <a16:creationId xmlns:a16="http://schemas.microsoft.com/office/drawing/2014/main" id="{6C67A83E-32A3-2D9A-DCCA-72FAEE35E2E9}"/>
                </a:ext>
              </a:extLst>
            </p:cNvPr>
            <p:cNvSpPr/>
            <p:nvPr/>
          </p:nvSpPr>
          <p:spPr>
            <a:xfrm>
              <a:off x="480373" y="5307163"/>
              <a:ext cx="4741951" cy="45387"/>
            </a:xfrm>
            <a:prstGeom prst="roundRect">
              <a:avLst>
                <a:gd name="adj" fmla="val 30134"/>
              </a:avLst>
            </a:prstGeom>
            <a:solidFill>
              <a:srgbClr val="C49F8C"/>
            </a:solidFill>
            <a:ln/>
          </p:spPr>
        </p:sp>
        <p:sp>
          <p:nvSpPr>
            <p:cNvPr id="47" name="Shape 4">
              <a:extLst>
                <a:ext uri="{FF2B5EF4-FFF2-40B4-BE49-F238E27FC236}">
                  <a16:creationId xmlns:a16="http://schemas.microsoft.com/office/drawing/2014/main" id="{F4364A2E-6ECC-9F1E-4BAE-D295CFE4F91A}"/>
                </a:ext>
              </a:extLst>
            </p:cNvPr>
            <p:cNvSpPr/>
            <p:nvPr/>
          </p:nvSpPr>
          <p:spPr>
            <a:xfrm>
              <a:off x="2722085" y="5197709"/>
              <a:ext cx="258526" cy="273477"/>
            </a:xfrm>
            <a:prstGeom prst="roundRect">
              <a:avLst>
                <a:gd name="adj" fmla="val 248946"/>
              </a:avLst>
            </a:prstGeom>
            <a:solidFill>
              <a:srgbClr val="C49F8C"/>
            </a:solidFill>
            <a:ln/>
          </p:spPr>
        </p:sp>
        <p:sp>
          <p:nvSpPr>
            <p:cNvPr id="48" name="Text 5">
              <a:extLst>
                <a:ext uri="{FF2B5EF4-FFF2-40B4-BE49-F238E27FC236}">
                  <a16:creationId xmlns:a16="http://schemas.microsoft.com/office/drawing/2014/main" id="{FC6609A9-461C-47E0-6E1C-938931D349E7}"/>
                </a:ext>
              </a:extLst>
            </p:cNvPr>
            <p:cNvSpPr/>
            <p:nvPr/>
          </p:nvSpPr>
          <p:spPr>
            <a:xfrm>
              <a:off x="2799601" y="5211306"/>
              <a:ext cx="103410" cy="1366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 6">
              <a:extLst>
                <a:ext uri="{FF2B5EF4-FFF2-40B4-BE49-F238E27FC236}">
                  <a16:creationId xmlns:a16="http://schemas.microsoft.com/office/drawing/2014/main" id="{E55453AA-E844-404C-8A56-95ACC1E954D7}"/>
                </a:ext>
              </a:extLst>
            </p:cNvPr>
            <p:cNvSpPr/>
            <p:nvPr/>
          </p:nvSpPr>
          <p:spPr>
            <a:xfrm>
              <a:off x="577246" y="5551844"/>
              <a:ext cx="1077427" cy="142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Haircare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CDD9C547-A0CC-13C1-BB4E-1DFAD8191F47}"/>
                </a:ext>
              </a:extLst>
            </p:cNvPr>
            <p:cNvSpPr/>
            <p:nvPr/>
          </p:nvSpPr>
          <p:spPr>
            <a:xfrm>
              <a:off x="4376374" y="5528799"/>
              <a:ext cx="624251" cy="1885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12.82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Shape 2">
              <a:extLst>
                <a:ext uri="{FF2B5EF4-FFF2-40B4-BE49-F238E27FC236}">
                  <a16:creationId xmlns:a16="http://schemas.microsoft.com/office/drawing/2014/main" id="{456070DD-387E-283C-CD9E-CC8BB09B4C53}"/>
                </a:ext>
              </a:extLst>
            </p:cNvPr>
            <p:cNvSpPr/>
            <p:nvPr/>
          </p:nvSpPr>
          <p:spPr>
            <a:xfrm>
              <a:off x="480373" y="5941859"/>
              <a:ext cx="4741951" cy="531442"/>
            </a:xfrm>
            <a:prstGeom prst="roundRect">
              <a:avLst>
                <a:gd name="adj" fmla="val 7672"/>
              </a:avLst>
            </a:prstGeom>
            <a:solidFill>
              <a:srgbClr val="F2F2F2"/>
            </a:solidFill>
            <a:ln/>
          </p:spPr>
        </p:sp>
        <p:sp>
          <p:nvSpPr>
            <p:cNvPr id="52" name="Shape 3">
              <a:extLst>
                <a:ext uri="{FF2B5EF4-FFF2-40B4-BE49-F238E27FC236}">
                  <a16:creationId xmlns:a16="http://schemas.microsoft.com/office/drawing/2014/main" id="{9BDC703A-13F8-4504-2F4D-718864DA3C49}"/>
                </a:ext>
              </a:extLst>
            </p:cNvPr>
            <p:cNvSpPr/>
            <p:nvPr/>
          </p:nvSpPr>
          <p:spPr>
            <a:xfrm>
              <a:off x="480373" y="5930511"/>
              <a:ext cx="4741951" cy="45387"/>
            </a:xfrm>
            <a:prstGeom prst="roundRect">
              <a:avLst>
                <a:gd name="adj" fmla="val 30134"/>
              </a:avLst>
            </a:prstGeom>
            <a:solidFill>
              <a:srgbClr val="C49F8C"/>
            </a:solidFill>
            <a:ln/>
          </p:spPr>
        </p:sp>
        <p:sp>
          <p:nvSpPr>
            <p:cNvPr id="53" name="Shape 4">
              <a:extLst>
                <a:ext uri="{FF2B5EF4-FFF2-40B4-BE49-F238E27FC236}">
                  <a16:creationId xmlns:a16="http://schemas.microsoft.com/office/drawing/2014/main" id="{39A394CB-8334-FCBE-72BE-7F59CC8FA585}"/>
                </a:ext>
              </a:extLst>
            </p:cNvPr>
            <p:cNvSpPr/>
            <p:nvPr/>
          </p:nvSpPr>
          <p:spPr>
            <a:xfrm>
              <a:off x="2722085" y="5821057"/>
              <a:ext cx="258526" cy="273477"/>
            </a:xfrm>
            <a:prstGeom prst="roundRect">
              <a:avLst>
                <a:gd name="adj" fmla="val 248946"/>
              </a:avLst>
            </a:prstGeom>
            <a:solidFill>
              <a:srgbClr val="C49F8C"/>
            </a:solidFill>
            <a:ln/>
          </p:spPr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66B9B42C-3C7F-C668-6AF5-8919224E38BE}"/>
                </a:ext>
              </a:extLst>
            </p:cNvPr>
            <p:cNvSpPr/>
            <p:nvPr/>
          </p:nvSpPr>
          <p:spPr>
            <a:xfrm>
              <a:off x="2799601" y="5834654"/>
              <a:ext cx="103410" cy="1366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4EE47CF8-F44B-E639-E613-D1F69CDEE439}"/>
                </a:ext>
              </a:extLst>
            </p:cNvPr>
            <p:cNvSpPr/>
            <p:nvPr/>
          </p:nvSpPr>
          <p:spPr>
            <a:xfrm>
              <a:off x="577246" y="6175192"/>
              <a:ext cx="1077427" cy="142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Skincare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 7">
              <a:extLst>
                <a:ext uri="{FF2B5EF4-FFF2-40B4-BE49-F238E27FC236}">
                  <a16:creationId xmlns:a16="http://schemas.microsoft.com/office/drawing/2014/main" id="{8E073738-5806-5848-DCB8-029271CD5053}"/>
                </a:ext>
              </a:extLst>
            </p:cNvPr>
            <p:cNvSpPr/>
            <p:nvPr/>
          </p:nvSpPr>
          <p:spPr>
            <a:xfrm>
              <a:off x="4376374" y="6152147"/>
              <a:ext cx="624251" cy="1885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11.66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81342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4333B-D21F-7FF4-223E-3859CD83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2513-57CC-A1BC-459D-F09471E3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QUESTION 02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6C3083B-6A03-0FF7-CB49-436DC2ACED92}"/>
              </a:ext>
            </a:extLst>
          </p:cNvPr>
          <p:cNvSpPr/>
          <p:nvPr/>
        </p:nvSpPr>
        <p:spPr>
          <a:xfrm>
            <a:off x="2943496" y="2033086"/>
            <a:ext cx="7107697" cy="1198951"/>
          </a:xfrm>
          <a:prstGeom prst="wedgeRectCallout">
            <a:avLst>
              <a:gd name="adj1" fmla="val -62512"/>
              <a:gd name="adj2" fmla="val -34342"/>
            </a:avLst>
          </a:prstGeom>
          <a:solidFill>
            <a:srgbClr val="FCE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makes sense. But who exactly is buying the most? I need to understand the audience.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1DE1191-3BA1-30D5-5C09-1738B537B846}"/>
              </a:ext>
            </a:extLst>
          </p:cNvPr>
          <p:cNvSpPr/>
          <p:nvPr/>
        </p:nvSpPr>
        <p:spPr>
          <a:xfrm>
            <a:off x="2323698" y="4435531"/>
            <a:ext cx="6610752" cy="1198951"/>
          </a:xfrm>
          <a:prstGeom prst="wedgeRectCallout">
            <a:avLst>
              <a:gd name="adj1" fmla="val 59784"/>
              <a:gd name="adj2" fmla="val -35588"/>
            </a:avLst>
          </a:prstGeom>
          <a:solidFill>
            <a:srgbClr val="FCE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question sir, let’s dive into the customer demographics and break it down clearly.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2195B4-DFA0-633C-2AB7-2D0B433CDC34}"/>
              </a:ext>
            </a:extLst>
          </p:cNvPr>
          <p:cNvGrpSpPr/>
          <p:nvPr/>
        </p:nvGrpSpPr>
        <p:grpSpPr>
          <a:xfrm>
            <a:off x="9240308" y="3625964"/>
            <a:ext cx="2314727" cy="2520271"/>
            <a:chOff x="9420073" y="3875313"/>
            <a:chExt cx="2079599" cy="22642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39E9473-DA6B-F775-DCFC-419395D7FB22}"/>
                </a:ext>
              </a:extLst>
            </p:cNvPr>
            <p:cNvGrpSpPr/>
            <p:nvPr/>
          </p:nvGrpSpPr>
          <p:grpSpPr>
            <a:xfrm>
              <a:off x="9420073" y="3875313"/>
              <a:ext cx="2079599" cy="2079599"/>
              <a:chOff x="9420073" y="3875313"/>
              <a:chExt cx="2079599" cy="2079599"/>
            </a:xfrm>
          </p:grpSpPr>
          <p:pic>
            <p:nvPicPr>
              <p:cNvPr id="1026" name="Picture 2" descr="Data analysis - Free professions and jobs icons">
                <a:extLst>
                  <a:ext uri="{FF2B5EF4-FFF2-40B4-BE49-F238E27FC236}">
                    <a16:creationId xmlns:a16="http://schemas.microsoft.com/office/drawing/2014/main" id="{A70AC546-801A-94B0-7E5A-821AACF809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20073" y="3875313"/>
                <a:ext cx="2079599" cy="20795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Arc 3">
                <a:extLst>
                  <a:ext uri="{FF2B5EF4-FFF2-40B4-BE49-F238E27FC236}">
                    <a16:creationId xmlns:a16="http://schemas.microsoft.com/office/drawing/2014/main" id="{50BBF504-D82E-2D1D-A36D-2C5BCA11219D}"/>
                  </a:ext>
                </a:extLst>
              </p:cNvPr>
              <p:cNvSpPr/>
              <p:nvPr/>
            </p:nvSpPr>
            <p:spPr>
              <a:xfrm rot="8256740">
                <a:off x="10086730" y="4595869"/>
                <a:ext cx="337605" cy="236335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CE03E8F-7494-053C-C3B4-9AD25D1009DD}"/>
                  </a:ext>
                </a:extLst>
              </p:cNvPr>
              <p:cNvSpPr/>
              <p:nvPr/>
            </p:nvSpPr>
            <p:spPr>
              <a:xfrm>
                <a:off x="10096500" y="4572000"/>
                <a:ext cx="45719" cy="635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5C9AF19-B42E-1EFB-64A3-F09D826C3E52}"/>
                  </a:ext>
                </a:extLst>
              </p:cNvPr>
              <p:cNvSpPr/>
              <p:nvPr/>
            </p:nvSpPr>
            <p:spPr>
              <a:xfrm>
                <a:off x="10232672" y="4572000"/>
                <a:ext cx="45719" cy="635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677848A-4619-856D-02E5-2E2E8F01551D}"/>
                </a:ext>
              </a:extLst>
            </p:cNvPr>
            <p:cNvSpPr txBox="1"/>
            <p:nvPr/>
          </p:nvSpPr>
          <p:spPr>
            <a:xfrm>
              <a:off x="9621672" y="5770245"/>
              <a:ext cx="1562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Data Analyst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4326E86-C58A-F979-2EDB-5B8F9B30E24B}"/>
              </a:ext>
            </a:extLst>
          </p:cNvPr>
          <p:cNvGrpSpPr/>
          <p:nvPr/>
        </p:nvGrpSpPr>
        <p:grpSpPr>
          <a:xfrm>
            <a:off x="647298" y="1589697"/>
            <a:ext cx="1810152" cy="2085727"/>
            <a:chOff x="466725" y="1143000"/>
            <a:chExt cx="1562100" cy="179991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836034B-CC70-A3D6-18D2-25D0D2B101D4}"/>
                </a:ext>
              </a:extLst>
            </p:cNvPr>
            <p:cNvSpPr txBox="1"/>
            <p:nvPr/>
          </p:nvSpPr>
          <p:spPr>
            <a:xfrm>
              <a:off x="466725" y="2573580"/>
              <a:ext cx="1562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>
                  <a:latin typeface="Arial" panose="020B0604020202020204" pitchFamily="34" charset="0"/>
                  <a:cs typeface="Arial" panose="020B0604020202020204" pitchFamily="34" charset="0"/>
                </a:rPr>
                <a:t>Client</a:t>
              </a:r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C7E11A6-26DB-C8D3-372E-A5123BA8F984}"/>
                </a:ext>
              </a:extLst>
            </p:cNvPr>
            <p:cNvGrpSpPr/>
            <p:nvPr/>
          </p:nvGrpSpPr>
          <p:grpSpPr>
            <a:xfrm>
              <a:off x="580363" y="1143000"/>
              <a:ext cx="1334824" cy="1437774"/>
              <a:chOff x="580363" y="1143000"/>
              <a:chExt cx="1334824" cy="1437774"/>
            </a:xfrm>
          </p:grpSpPr>
          <p:pic>
            <p:nvPicPr>
              <p:cNvPr id="1036" name="Picture 12" descr="Download Free Client Icons in PNG &amp; SVG">
                <a:extLst>
                  <a:ext uri="{FF2B5EF4-FFF2-40B4-BE49-F238E27FC236}">
                    <a16:creationId xmlns:a16="http://schemas.microsoft.com/office/drawing/2014/main" id="{C6A4E9EF-64E3-CC6E-6EB5-B10CBF6160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40" t="91" r="15780" b="25716"/>
              <a:stretch>
                <a:fillRect/>
              </a:stretch>
            </p:blipFill>
            <p:spPr bwMode="auto">
              <a:xfrm>
                <a:off x="580363" y="1143000"/>
                <a:ext cx="1334824" cy="14377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A78D2F3C-56C8-AD81-E371-5AEEB4F427FE}"/>
                  </a:ext>
                </a:extLst>
              </p:cNvPr>
              <p:cNvSpPr/>
              <p:nvPr/>
            </p:nvSpPr>
            <p:spPr>
              <a:xfrm rot="9077165">
                <a:off x="1116698" y="1550987"/>
                <a:ext cx="355600" cy="279400"/>
              </a:xfrm>
              <a:prstGeom prst="arc">
                <a:avLst>
                  <a:gd name="adj1" fmla="val 17663829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11FB159-A8CF-9C33-2B51-7E392A46377E}"/>
                  </a:ext>
                </a:extLst>
              </p:cNvPr>
              <p:cNvSpPr/>
              <p:nvPr/>
            </p:nvSpPr>
            <p:spPr>
              <a:xfrm>
                <a:off x="1161933" y="158353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12A9915-8E83-FDA5-0C0A-A237EB3D150E}"/>
                  </a:ext>
                </a:extLst>
              </p:cNvPr>
              <p:cNvSpPr/>
              <p:nvPr/>
            </p:nvSpPr>
            <p:spPr>
              <a:xfrm>
                <a:off x="1316882" y="158353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1F211E9-4C6E-6352-EC81-F0ECCE288DA5}"/>
              </a:ext>
            </a:extLst>
          </p:cNvPr>
          <p:cNvGrpSpPr/>
          <p:nvPr/>
        </p:nvGrpSpPr>
        <p:grpSpPr>
          <a:xfrm>
            <a:off x="-21231" y="1391174"/>
            <a:ext cx="5488057" cy="5466826"/>
            <a:chOff x="-21231" y="1391174"/>
            <a:chExt cx="5488057" cy="54668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7E4EB6-BD9D-CF2A-241C-7B77D190E0A9}"/>
                </a:ext>
              </a:extLst>
            </p:cNvPr>
            <p:cNvSpPr/>
            <p:nvPr/>
          </p:nvSpPr>
          <p:spPr>
            <a:xfrm rot="5400000">
              <a:off x="2682613" y="4073787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4EE3FF-DDA4-9ECC-F24D-CC9CB906CDAA}"/>
                </a:ext>
              </a:extLst>
            </p:cNvPr>
            <p:cNvSpPr/>
            <p:nvPr/>
          </p:nvSpPr>
          <p:spPr>
            <a:xfrm rot="10800000">
              <a:off x="-21231" y="1391174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3EF5648-D127-6A7B-8EB1-239E70A3B63E}"/>
              </a:ext>
            </a:extLst>
          </p:cNvPr>
          <p:cNvGrpSpPr/>
          <p:nvPr/>
        </p:nvGrpSpPr>
        <p:grpSpPr>
          <a:xfrm rot="10800000">
            <a:off x="6703943" y="0"/>
            <a:ext cx="5488057" cy="5466826"/>
            <a:chOff x="-21231" y="1391174"/>
            <a:chExt cx="5488057" cy="54668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DDC1C7A-040D-48A9-5B80-6EC9900169D2}"/>
                </a:ext>
              </a:extLst>
            </p:cNvPr>
            <p:cNvSpPr/>
            <p:nvPr/>
          </p:nvSpPr>
          <p:spPr>
            <a:xfrm rot="5400000">
              <a:off x="2682613" y="4073787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D3D3DE-2B6F-0A61-C1BF-DC346437FB08}"/>
                </a:ext>
              </a:extLst>
            </p:cNvPr>
            <p:cNvSpPr/>
            <p:nvPr/>
          </p:nvSpPr>
          <p:spPr>
            <a:xfrm rot="10800000">
              <a:off x="-21231" y="1391174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0125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3FD83-4397-C547-322D-995EA302C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F30077-3655-5319-E898-32B83FB3D342}"/>
              </a:ext>
            </a:extLst>
          </p:cNvPr>
          <p:cNvSpPr/>
          <p:nvPr/>
        </p:nvSpPr>
        <p:spPr>
          <a:xfrm>
            <a:off x="556617" y="549660"/>
            <a:ext cx="5539383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50"/>
              </a:lnSpc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CUSTOMER DEMOGRAPHICS &amp; REVENUE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69168-C864-A2E7-F6E1-77AF8B283975}"/>
              </a:ext>
            </a:extLst>
          </p:cNvPr>
          <p:cNvSpPr txBox="1"/>
          <p:nvPr/>
        </p:nvSpPr>
        <p:spPr>
          <a:xfrm>
            <a:off x="556617" y="1661920"/>
            <a:ext cx="5912065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200000"/>
              </a:lnSpc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Unknown and Female contributes the highest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Male and Non-binary follow behind.</a:t>
            </a:r>
          </a:p>
          <a:p>
            <a:r>
              <a:rPr lang="en-US" dirty="0"/>
              <a:t>Recommendation: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Targeted customer Female.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8988EC2-A2CA-CB9F-19CC-4E952AA6E0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3023758"/>
              </p:ext>
            </p:extLst>
          </p:nvPr>
        </p:nvGraphicFramePr>
        <p:xfrm>
          <a:off x="6248400" y="1661920"/>
          <a:ext cx="5386983" cy="4044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9836608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DCECB-BF49-0781-BB0E-E8F6116A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F9486-EDD2-0CCE-9042-C711D7897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QUESTION 03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E1C8BCB2-DD3B-0CD8-DA32-012A9049B08D}"/>
              </a:ext>
            </a:extLst>
          </p:cNvPr>
          <p:cNvSpPr/>
          <p:nvPr/>
        </p:nvSpPr>
        <p:spPr>
          <a:xfrm>
            <a:off x="2943496" y="2033086"/>
            <a:ext cx="7107697" cy="1198951"/>
          </a:xfrm>
          <a:prstGeom prst="wedgeRectCallout">
            <a:avLst>
              <a:gd name="adj1" fmla="val -62512"/>
              <a:gd name="adj2" fmla="val -34342"/>
            </a:avLst>
          </a:prstGeom>
          <a:solidFill>
            <a:srgbClr val="FCE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Alright, but location and supplier are critical. Where’s the best place to channel resources?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E1BCF942-F276-E738-56EB-2C8F12C60D36}"/>
              </a:ext>
            </a:extLst>
          </p:cNvPr>
          <p:cNvSpPr/>
          <p:nvPr/>
        </p:nvSpPr>
        <p:spPr>
          <a:xfrm>
            <a:off x="2323698" y="4435531"/>
            <a:ext cx="6610752" cy="1198951"/>
          </a:xfrm>
          <a:prstGeom prst="wedgeRectCallout">
            <a:avLst>
              <a:gd name="adj1" fmla="val 59784"/>
              <a:gd name="adj2" fmla="val -35588"/>
            </a:avLst>
          </a:prstGeom>
          <a:solidFill>
            <a:srgbClr val="FCE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Absolutely sir, let’s explore the data on locations and suppliers to see where the real opportunities lie.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D9F1AE-CE28-CB70-01DC-A84E63F6377A}"/>
              </a:ext>
            </a:extLst>
          </p:cNvPr>
          <p:cNvGrpSpPr/>
          <p:nvPr/>
        </p:nvGrpSpPr>
        <p:grpSpPr>
          <a:xfrm>
            <a:off x="9240308" y="3625964"/>
            <a:ext cx="2314727" cy="2520271"/>
            <a:chOff x="9420073" y="3875313"/>
            <a:chExt cx="2079599" cy="22642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1870E83-C71D-E10B-45EF-C6A51382D0E6}"/>
                </a:ext>
              </a:extLst>
            </p:cNvPr>
            <p:cNvGrpSpPr/>
            <p:nvPr/>
          </p:nvGrpSpPr>
          <p:grpSpPr>
            <a:xfrm>
              <a:off x="9420073" y="3875313"/>
              <a:ext cx="2079599" cy="2079599"/>
              <a:chOff x="9420073" y="3875313"/>
              <a:chExt cx="2079599" cy="2079599"/>
            </a:xfrm>
          </p:grpSpPr>
          <p:pic>
            <p:nvPicPr>
              <p:cNvPr id="1026" name="Picture 2" descr="Data analysis - Free professions and jobs icons">
                <a:extLst>
                  <a:ext uri="{FF2B5EF4-FFF2-40B4-BE49-F238E27FC236}">
                    <a16:creationId xmlns:a16="http://schemas.microsoft.com/office/drawing/2014/main" id="{4CF19BC6-7D13-E631-A364-BE5BEE0700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20073" y="3875313"/>
                <a:ext cx="2079599" cy="20795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Arc 3">
                <a:extLst>
                  <a:ext uri="{FF2B5EF4-FFF2-40B4-BE49-F238E27FC236}">
                    <a16:creationId xmlns:a16="http://schemas.microsoft.com/office/drawing/2014/main" id="{2B5A70D5-698C-F5A3-8779-430875DE6A9E}"/>
                  </a:ext>
                </a:extLst>
              </p:cNvPr>
              <p:cNvSpPr/>
              <p:nvPr/>
            </p:nvSpPr>
            <p:spPr>
              <a:xfrm rot="8256740">
                <a:off x="10086730" y="4595869"/>
                <a:ext cx="337605" cy="236335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554EA40-4FE5-D149-3F94-053697770080}"/>
                  </a:ext>
                </a:extLst>
              </p:cNvPr>
              <p:cNvSpPr/>
              <p:nvPr/>
            </p:nvSpPr>
            <p:spPr>
              <a:xfrm>
                <a:off x="10096500" y="4572000"/>
                <a:ext cx="45719" cy="635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FEB3C2-6308-2A5E-B721-094CDB1EB096}"/>
                  </a:ext>
                </a:extLst>
              </p:cNvPr>
              <p:cNvSpPr/>
              <p:nvPr/>
            </p:nvSpPr>
            <p:spPr>
              <a:xfrm>
                <a:off x="10232672" y="4572000"/>
                <a:ext cx="45719" cy="635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7B365F-0436-0E13-76E9-6A5203B99C3E}"/>
                </a:ext>
              </a:extLst>
            </p:cNvPr>
            <p:cNvSpPr txBox="1"/>
            <p:nvPr/>
          </p:nvSpPr>
          <p:spPr>
            <a:xfrm>
              <a:off x="9621672" y="5770245"/>
              <a:ext cx="1562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Data Analyst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BCF040-AD13-CD38-D5FD-B8CFCFD6D7F6}"/>
              </a:ext>
            </a:extLst>
          </p:cNvPr>
          <p:cNvGrpSpPr/>
          <p:nvPr/>
        </p:nvGrpSpPr>
        <p:grpSpPr>
          <a:xfrm>
            <a:off x="647298" y="1589697"/>
            <a:ext cx="1810152" cy="2085727"/>
            <a:chOff x="466725" y="1143000"/>
            <a:chExt cx="1562100" cy="179991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2D120C-9CBA-909E-E432-D8032CB52E39}"/>
                </a:ext>
              </a:extLst>
            </p:cNvPr>
            <p:cNvSpPr txBox="1"/>
            <p:nvPr/>
          </p:nvSpPr>
          <p:spPr>
            <a:xfrm>
              <a:off x="466725" y="2573580"/>
              <a:ext cx="1562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>
                  <a:latin typeface="Arial" panose="020B0604020202020204" pitchFamily="34" charset="0"/>
                  <a:cs typeface="Arial" panose="020B0604020202020204" pitchFamily="34" charset="0"/>
                </a:rPr>
                <a:t>Client</a:t>
              </a:r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1EB08BC-2297-AD53-7C91-476FF8F3B890}"/>
                </a:ext>
              </a:extLst>
            </p:cNvPr>
            <p:cNvGrpSpPr/>
            <p:nvPr/>
          </p:nvGrpSpPr>
          <p:grpSpPr>
            <a:xfrm>
              <a:off x="580363" y="1143000"/>
              <a:ext cx="1334824" cy="1437774"/>
              <a:chOff x="580363" y="1143000"/>
              <a:chExt cx="1334824" cy="1437774"/>
            </a:xfrm>
          </p:grpSpPr>
          <p:pic>
            <p:nvPicPr>
              <p:cNvPr id="1036" name="Picture 12" descr="Download Free Client Icons in PNG &amp; SVG">
                <a:extLst>
                  <a:ext uri="{FF2B5EF4-FFF2-40B4-BE49-F238E27FC236}">
                    <a16:creationId xmlns:a16="http://schemas.microsoft.com/office/drawing/2014/main" id="{B7622D47-BE66-12C3-9947-B08A7E5B3A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40" t="91" r="15780" b="25716"/>
              <a:stretch>
                <a:fillRect/>
              </a:stretch>
            </p:blipFill>
            <p:spPr bwMode="auto">
              <a:xfrm>
                <a:off x="580363" y="1143000"/>
                <a:ext cx="1334824" cy="14377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ADD2E394-37EF-5BB7-A077-4EFEFE85029A}"/>
                  </a:ext>
                </a:extLst>
              </p:cNvPr>
              <p:cNvSpPr/>
              <p:nvPr/>
            </p:nvSpPr>
            <p:spPr>
              <a:xfrm rot="9077165">
                <a:off x="1116698" y="1550987"/>
                <a:ext cx="355600" cy="279400"/>
              </a:xfrm>
              <a:prstGeom prst="arc">
                <a:avLst>
                  <a:gd name="adj1" fmla="val 17663829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D69528A-5AC0-F993-E953-18D1AF4572D3}"/>
                  </a:ext>
                </a:extLst>
              </p:cNvPr>
              <p:cNvSpPr/>
              <p:nvPr/>
            </p:nvSpPr>
            <p:spPr>
              <a:xfrm>
                <a:off x="1161933" y="158353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0449D86-000C-C04E-8534-AE95D6975522}"/>
                  </a:ext>
                </a:extLst>
              </p:cNvPr>
              <p:cNvSpPr/>
              <p:nvPr/>
            </p:nvSpPr>
            <p:spPr>
              <a:xfrm>
                <a:off x="1316882" y="158353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0E3B1-941B-7427-2463-3142224A1DC9}"/>
              </a:ext>
            </a:extLst>
          </p:cNvPr>
          <p:cNvGrpSpPr/>
          <p:nvPr/>
        </p:nvGrpSpPr>
        <p:grpSpPr>
          <a:xfrm>
            <a:off x="-21231" y="1391174"/>
            <a:ext cx="5488057" cy="5466826"/>
            <a:chOff x="-21231" y="1391174"/>
            <a:chExt cx="5488057" cy="54668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6DA45D-EE7C-BCFB-97A7-D0426B8000A3}"/>
                </a:ext>
              </a:extLst>
            </p:cNvPr>
            <p:cNvSpPr/>
            <p:nvPr/>
          </p:nvSpPr>
          <p:spPr>
            <a:xfrm rot="5400000">
              <a:off x="2682613" y="4073787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D937C2-E331-97B0-8CB0-6BEA9B415130}"/>
                </a:ext>
              </a:extLst>
            </p:cNvPr>
            <p:cNvSpPr/>
            <p:nvPr/>
          </p:nvSpPr>
          <p:spPr>
            <a:xfrm rot="10800000">
              <a:off x="-21231" y="1391174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7F36AD-125B-D768-C54C-0EACF7A73480}"/>
              </a:ext>
            </a:extLst>
          </p:cNvPr>
          <p:cNvGrpSpPr/>
          <p:nvPr/>
        </p:nvGrpSpPr>
        <p:grpSpPr>
          <a:xfrm rot="10800000">
            <a:off x="6703943" y="0"/>
            <a:ext cx="5488057" cy="5466826"/>
            <a:chOff x="-21231" y="1391174"/>
            <a:chExt cx="5488057" cy="54668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DDEF07-3C03-38D7-8884-6CA53AEC8D59}"/>
                </a:ext>
              </a:extLst>
            </p:cNvPr>
            <p:cNvSpPr/>
            <p:nvPr/>
          </p:nvSpPr>
          <p:spPr>
            <a:xfrm rot="5400000">
              <a:off x="2682613" y="4073787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DEC36E-8330-5A4F-701A-D6FE850AAA45}"/>
                </a:ext>
              </a:extLst>
            </p:cNvPr>
            <p:cNvSpPr/>
            <p:nvPr/>
          </p:nvSpPr>
          <p:spPr>
            <a:xfrm rot="10800000">
              <a:off x="-21231" y="1391174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53539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DD83-F21F-FD48-AFA4-A15FE95CE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06" y="518890"/>
            <a:ext cx="10515600" cy="61649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REVENUE BY REGION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11A241-8BB0-0470-0135-9B5BF64E0014}"/>
              </a:ext>
            </a:extLst>
          </p:cNvPr>
          <p:cNvSpPr txBox="1">
            <a:spLocks/>
          </p:cNvSpPr>
          <p:nvPr/>
        </p:nvSpPr>
        <p:spPr>
          <a:xfrm>
            <a:off x="426224" y="1418571"/>
            <a:ext cx="4869676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200000"/>
              </a:lnSpc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Mumbai Kolkata &amp; Chennai dominate the sales</a:t>
            </a:r>
            <a:endParaRPr lang="en-US" dirty="0"/>
          </a:p>
          <a:p>
            <a:r>
              <a:rPr lang="en-US" dirty="0"/>
              <a:t>Recommendation: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Expand marketing in top-performing regions.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7E509F97-41C2-5140-9EAB-6DF6600794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910876"/>
              </p:ext>
            </p:extLst>
          </p:nvPr>
        </p:nvGraphicFramePr>
        <p:xfrm>
          <a:off x="5586432" y="1285221"/>
          <a:ext cx="6179344" cy="4712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4949596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C084-6959-9727-2E8C-585B94E2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5E75-4FB5-0B7D-CA61-76A64FC24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06" y="518890"/>
            <a:ext cx="10515600" cy="61649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SUPPLIER PERFORMANCE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B1D62F7-1B32-7D22-5B55-B5F099C3EE93}"/>
              </a:ext>
            </a:extLst>
          </p:cNvPr>
          <p:cNvSpPr txBox="1">
            <a:spLocks/>
          </p:cNvSpPr>
          <p:nvPr/>
        </p:nvSpPr>
        <p:spPr>
          <a:xfrm>
            <a:off x="437606" y="1559870"/>
            <a:ext cx="4869676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200000"/>
              </a:lnSpc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Supplier 1 contributes the highest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The rest suppliers are follow behind.</a:t>
            </a:r>
          </a:p>
          <a:p>
            <a:r>
              <a:rPr lang="en-US" dirty="0"/>
              <a:t>Recommendation: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Supplier 1 has less lead time suites best for sourcing.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24FE93E-7273-4E08-99AD-590A00A4A4D3}"/>
              </a:ext>
            </a:extLst>
          </p:cNvPr>
          <p:cNvGrpSpPr/>
          <p:nvPr/>
        </p:nvGrpSpPr>
        <p:grpSpPr>
          <a:xfrm>
            <a:off x="6497196" y="950405"/>
            <a:ext cx="5123824" cy="5624997"/>
            <a:chOff x="6497196" y="1102805"/>
            <a:chExt cx="5123824" cy="5624997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3E6C7975-EEDD-4DE6-398C-87D783EC2A95}"/>
                </a:ext>
              </a:extLst>
            </p:cNvPr>
            <p:cNvSpPr/>
            <p:nvPr/>
          </p:nvSpPr>
          <p:spPr>
            <a:xfrm>
              <a:off x="7492437" y="4486635"/>
              <a:ext cx="3186752" cy="2152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anose="020B0604020202020204" pitchFamily="34" charset="0"/>
                  <a:ea typeface="Gelasio" pitchFamily="34" charset="-122"/>
                  <a:cs typeface="Arial" panose="020B0604020202020204" pitchFamily="34" charset="0"/>
                </a:rPr>
                <a:t>Highest Average Revenue Per Unit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D15C03D-74D0-5011-199F-761B5C6AEAA2}"/>
                </a:ext>
              </a:extLst>
            </p:cNvPr>
            <p:cNvGrpSpPr/>
            <p:nvPr/>
          </p:nvGrpSpPr>
          <p:grpSpPr>
            <a:xfrm>
              <a:off x="6714880" y="4769192"/>
              <a:ext cx="4741951" cy="1958610"/>
              <a:chOff x="3787455" y="-607752"/>
              <a:chExt cx="4741951" cy="1958610"/>
            </a:xfrm>
          </p:grpSpPr>
          <p:sp>
            <p:nvSpPr>
              <p:cNvPr id="6" name="Shape 2">
                <a:extLst>
                  <a:ext uri="{FF2B5EF4-FFF2-40B4-BE49-F238E27FC236}">
                    <a16:creationId xmlns:a16="http://schemas.microsoft.com/office/drawing/2014/main" id="{92763CEE-382F-9207-905E-B64C4B73062E}"/>
                  </a:ext>
                </a:extLst>
              </p:cNvPr>
              <p:cNvSpPr/>
              <p:nvPr/>
            </p:nvSpPr>
            <p:spPr>
              <a:xfrm>
                <a:off x="3787455" y="-486950"/>
                <a:ext cx="4741951" cy="531442"/>
              </a:xfrm>
              <a:prstGeom prst="roundRect">
                <a:avLst>
                  <a:gd name="adj" fmla="val 7672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Shape 3">
                <a:extLst>
                  <a:ext uri="{FF2B5EF4-FFF2-40B4-BE49-F238E27FC236}">
                    <a16:creationId xmlns:a16="http://schemas.microsoft.com/office/drawing/2014/main" id="{593BD01A-492C-797F-439F-C106E25405D6}"/>
                  </a:ext>
                </a:extLst>
              </p:cNvPr>
              <p:cNvSpPr/>
              <p:nvPr/>
            </p:nvSpPr>
            <p:spPr>
              <a:xfrm>
                <a:off x="3787455" y="-498298"/>
                <a:ext cx="4741951" cy="45387"/>
              </a:xfrm>
              <a:prstGeom prst="roundRect">
                <a:avLst>
                  <a:gd name="adj" fmla="val 30134"/>
                </a:avLst>
              </a:prstGeom>
              <a:solidFill>
                <a:srgbClr val="C49F8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Shape 4">
                <a:extLst>
                  <a:ext uri="{FF2B5EF4-FFF2-40B4-BE49-F238E27FC236}">
                    <a16:creationId xmlns:a16="http://schemas.microsoft.com/office/drawing/2014/main" id="{2617E34E-D2A3-FDDE-6729-3CAA34930A58}"/>
                  </a:ext>
                </a:extLst>
              </p:cNvPr>
              <p:cNvSpPr/>
              <p:nvPr/>
            </p:nvSpPr>
            <p:spPr>
              <a:xfrm>
                <a:off x="6029167" y="-607752"/>
                <a:ext cx="258526" cy="273477"/>
              </a:xfrm>
              <a:prstGeom prst="roundRect">
                <a:avLst>
                  <a:gd name="adj" fmla="val 248946"/>
                </a:avLst>
              </a:prstGeom>
              <a:solidFill>
                <a:srgbClr val="C49F8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5">
                <a:extLst>
                  <a:ext uri="{FF2B5EF4-FFF2-40B4-BE49-F238E27FC236}">
                    <a16:creationId xmlns:a16="http://schemas.microsoft.com/office/drawing/2014/main" id="{E6A36B88-A4F5-A2D7-2321-0D4765C433CB}"/>
                  </a:ext>
                </a:extLst>
              </p:cNvPr>
              <p:cNvSpPr/>
              <p:nvPr/>
            </p:nvSpPr>
            <p:spPr>
              <a:xfrm>
                <a:off x="6106683" y="-594155"/>
                <a:ext cx="103410" cy="1366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85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1</a:t>
                </a:r>
                <a:endPara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D0B48442-3507-8709-2C91-07DE61F52328}"/>
                  </a:ext>
                </a:extLst>
              </p:cNvPr>
              <p:cNvSpPr/>
              <p:nvPr/>
            </p:nvSpPr>
            <p:spPr>
              <a:xfrm>
                <a:off x="3884328" y="-253617"/>
                <a:ext cx="1077427" cy="1424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Supplier 1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 7">
                <a:extLst>
                  <a:ext uri="{FF2B5EF4-FFF2-40B4-BE49-F238E27FC236}">
                    <a16:creationId xmlns:a16="http://schemas.microsoft.com/office/drawing/2014/main" id="{26C03509-6412-35D2-DE88-2543ABB88516}"/>
                  </a:ext>
                </a:extLst>
              </p:cNvPr>
              <p:cNvSpPr/>
              <p:nvPr/>
            </p:nvSpPr>
            <p:spPr>
              <a:xfrm>
                <a:off x="7683456" y="-276662"/>
                <a:ext cx="624251" cy="18854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14.22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Shape 2">
                <a:extLst>
                  <a:ext uri="{FF2B5EF4-FFF2-40B4-BE49-F238E27FC236}">
                    <a16:creationId xmlns:a16="http://schemas.microsoft.com/office/drawing/2014/main" id="{0F0FE9B8-0667-1E1D-2D1C-68B61894AC22}"/>
                  </a:ext>
                </a:extLst>
              </p:cNvPr>
              <p:cNvSpPr/>
              <p:nvPr/>
            </p:nvSpPr>
            <p:spPr>
              <a:xfrm>
                <a:off x="3787455" y="196068"/>
                <a:ext cx="4741951" cy="531442"/>
              </a:xfrm>
              <a:prstGeom prst="roundRect">
                <a:avLst>
                  <a:gd name="adj" fmla="val 7672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Shape 3">
                <a:extLst>
                  <a:ext uri="{FF2B5EF4-FFF2-40B4-BE49-F238E27FC236}">
                    <a16:creationId xmlns:a16="http://schemas.microsoft.com/office/drawing/2014/main" id="{8A79F6FA-E6C9-A3E2-E2F9-1480A96082F1}"/>
                  </a:ext>
                </a:extLst>
              </p:cNvPr>
              <p:cNvSpPr/>
              <p:nvPr/>
            </p:nvSpPr>
            <p:spPr>
              <a:xfrm>
                <a:off x="3787455" y="184720"/>
                <a:ext cx="4741951" cy="45387"/>
              </a:xfrm>
              <a:prstGeom prst="roundRect">
                <a:avLst>
                  <a:gd name="adj" fmla="val 30134"/>
                </a:avLst>
              </a:prstGeom>
              <a:solidFill>
                <a:srgbClr val="C49F8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Shape 4">
                <a:extLst>
                  <a:ext uri="{FF2B5EF4-FFF2-40B4-BE49-F238E27FC236}">
                    <a16:creationId xmlns:a16="http://schemas.microsoft.com/office/drawing/2014/main" id="{97D96085-18E4-DA31-146A-5E3FE546E37B}"/>
                  </a:ext>
                </a:extLst>
              </p:cNvPr>
              <p:cNvSpPr/>
              <p:nvPr/>
            </p:nvSpPr>
            <p:spPr>
              <a:xfrm>
                <a:off x="6029167" y="75266"/>
                <a:ext cx="258526" cy="273477"/>
              </a:xfrm>
              <a:prstGeom prst="roundRect">
                <a:avLst>
                  <a:gd name="adj" fmla="val 248946"/>
                </a:avLst>
              </a:prstGeom>
              <a:solidFill>
                <a:srgbClr val="C49F8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 5">
                <a:extLst>
                  <a:ext uri="{FF2B5EF4-FFF2-40B4-BE49-F238E27FC236}">
                    <a16:creationId xmlns:a16="http://schemas.microsoft.com/office/drawing/2014/main" id="{CFCFC332-6F66-F0F2-4C4B-354E74CEDB07}"/>
                  </a:ext>
                </a:extLst>
              </p:cNvPr>
              <p:cNvSpPr/>
              <p:nvPr/>
            </p:nvSpPr>
            <p:spPr>
              <a:xfrm>
                <a:off x="6106683" y="88863"/>
                <a:ext cx="103410" cy="1366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85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2</a:t>
                </a:r>
                <a:endPara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 6">
                <a:extLst>
                  <a:ext uri="{FF2B5EF4-FFF2-40B4-BE49-F238E27FC236}">
                    <a16:creationId xmlns:a16="http://schemas.microsoft.com/office/drawing/2014/main" id="{49A53228-9367-EE41-65AF-B8A341570AFD}"/>
                  </a:ext>
                </a:extLst>
              </p:cNvPr>
              <p:cNvSpPr/>
              <p:nvPr/>
            </p:nvSpPr>
            <p:spPr>
              <a:xfrm>
                <a:off x="3884328" y="429401"/>
                <a:ext cx="1077427" cy="1424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1500"/>
                  </a:lnSpc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Supplier 5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 7">
                <a:extLst>
                  <a:ext uri="{FF2B5EF4-FFF2-40B4-BE49-F238E27FC236}">
                    <a16:creationId xmlns:a16="http://schemas.microsoft.com/office/drawing/2014/main" id="{8DC46499-634A-79A6-4170-1CE424A2B04D}"/>
                  </a:ext>
                </a:extLst>
              </p:cNvPr>
              <p:cNvSpPr/>
              <p:nvPr/>
            </p:nvSpPr>
            <p:spPr>
              <a:xfrm>
                <a:off x="7683456" y="406356"/>
                <a:ext cx="624251" cy="18854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12.74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Shape 2">
                <a:extLst>
                  <a:ext uri="{FF2B5EF4-FFF2-40B4-BE49-F238E27FC236}">
                    <a16:creationId xmlns:a16="http://schemas.microsoft.com/office/drawing/2014/main" id="{1A6CA152-10D9-E963-AD12-C73633A1182E}"/>
                  </a:ext>
                </a:extLst>
              </p:cNvPr>
              <p:cNvSpPr/>
              <p:nvPr/>
            </p:nvSpPr>
            <p:spPr>
              <a:xfrm>
                <a:off x="3787455" y="819416"/>
                <a:ext cx="4741951" cy="531442"/>
              </a:xfrm>
              <a:prstGeom prst="roundRect">
                <a:avLst>
                  <a:gd name="adj" fmla="val 7672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Shape 3">
                <a:extLst>
                  <a:ext uri="{FF2B5EF4-FFF2-40B4-BE49-F238E27FC236}">
                    <a16:creationId xmlns:a16="http://schemas.microsoft.com/office/drawing/2014/main" id="{47C766BA-DBDC-5469-15E4-46866F4E68DE}"/>
                  </a:ext>
                </a:extLst>
              </p:cNvPr>
              <p:cNvSpPr/>
              <p:nvPr/>
            </p:nvSpPr>
            <p:spPr>
              <a:xfrm>
                <a:off x="3787455" y="808068"/>
                <a:ext cx="4741951" cy="45387"/>
              </a:xfrm>
              <a:prstGeom prst="roundRect">
                <a:avLst>
                  <a:gd name="adj" fmla="val 30134"/>
                </a:avLst>
              </a:prstGeom>
              <a:solidFill>
                <a:srgbClr val="C49F8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Shape 4">
                <a:extLst>
                  <a:ext uri="{FF2B5EF4-FFF2-40B4-BE49-F238E27FC236}">
                    <a16:creationId xmlns:a16="http://schemas.microsoft.com/office/drawing/2014/main" id="{7F0C2C4C-9335-78A3-67D2-DB0CDEC95136}"/>
                  </a:ext>
                </a:extLst>
              </p:cNvPr>
              <p:cNvSpPr/>
              <p:nvPr/>
            </p:nvSpPr>
            <p:spPr>
              <a:xfrm>
                <a:off x="6029167" y="698614"/>
                <a:ext cx="258526" cy="273477"/>
              </a:xfrm>
              <a:prstGeom prst="roundRect">
                <a:avLst>
                  <a:gd name="adj" fmla="val 248946"/>
                </a:avLst>
              </a:prstGeom>
              <a:solidFill>
                <a:srgbClr val="C49F8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5">
                <a:extLst>
                  <a:ext uri="{FF2B5EF4-FFF2-40B4-BE49-F238E27FC236}">
                    <a16:creationId xmlns:a16="http://schemas.microsoft.com/office/drawing/2014/main" id="{7F71C583-D8C0-2BA2-49A9-24FE9AA0EB89}"/>
                  </a:ext>
                </a:extLst>
              </p:cNvPr>
              <p:cNvSpPr/>
              <p:nvPr/>
            </p:nvSpPr>
            <p:spPr>
              <a:xfrm>
                <a:off x="6106683" y="712211"/>
                <a:ext cx="103410" cy="1366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85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3</a:t>
                </a:r>
                <a:endPara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 6">
                <a:extLst>
                  <a:ext uri="{FF2B5EF4-FFF2-40B4-BE49-F238E27FC236}">
                    <a16:creationId xmlns:a16="http://schemas.microsoft.com/office/drawing/2014/main" id="{1EAB2083-01F4-D718-DE58-1CC43D538079}"/>
                  </a:ext>
                </a:extLst>
              </p:cNvPr>
              <p:cNvSpPr/>
              <p:nvPr/>
            </p:nvSpPr>
            <p:spPr>
              <a:xfrm>
                <a:off x="3884328" y="1052749"/>
                <a:ext cx="1077427" cy="1424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1500"/>
                  </a:lnSpc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Supplier 3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 7">
                <a:extLst>
                  <a:ext uri="{FF2B5EF4-FFF2-40B4-BE49-F238E27FC236}">
                    <a16:creationId xmlns:a16="http://schemas.microsoft.com/office/drawing/2014/main" id="{BCC98998-EA5B-80CB-9A37-FBB204043A07}"/>
                  </a:ext>
                </a:extLst>
              </p:cNvPr>
              <p:cNvSpPr/>
              <p:nvPr/>
            </p:nvSpPr>
            <p:spPr>
              <a:xfrm>
                <a:off x="7683456" y="1029704"/>
                <a:ext cx="624251" cy="18854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ea typeface="Gelasio" pitchFamily="34" charset="-122"/>
                    <a:cs typeface="Arial" panose="020B0604020202020204" pitchFamily="34" charset="0"/>
                  </a:rPr>
                  <a:t>12.10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aphicFrame>
          <p:nvGraphicFramePr>
            <p:cNvPr id="25" name="Chart 24">
              <a:extLst>
                <a:ext uri="{FF2B5EF4-FFF2-40B4-BE49-F238E27FC236}">
                  <a16:creationId xmlns:a16="http://schemas.microsoft.com/office/drawing/2014/main" id="{70D01AC0-B2F8-6AD3-A448-E8013E102E1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72961014"/>
                </p:ext>
              </p:extLst>
            </p:nvPr>
          </p:nvGraphicFramePr>
          <p:xfrm>
            <a:off x="6497196" y="1102805"/>
            <a:ext cx="5123824" cy="303395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60012482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0BC6-F030-701E-4A7C-E9E32288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05EA-AF64-800A-1AE3-6E798BCB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QUESTION 04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2CACAD6B-1C6B-416B-0F45-71CD4CE7CB5F}"/>
              </a:ext>
            </a:extLst>
          </p:cNvPr>
          <p:cNvSpPr/>
          <p:nvPr/>
        </p:nvSpPr>
        <p:spPr>
          <a:xfrm>
            <a:off x="2943496" y="2033086"/>
            <a:ext cx="7107697" cy="1198951"/>
          </a:xfrm>
          <a:prstGeom prst="wedgeRectCallout">
            <a:avLst>
              <a:gd name="adj1" fmla="val -62512"/>
              <a:gd name="adj2" fmla="val -34342"/>
            </a:avLst>
          </a:prstGeom>
          <a:solidFill>
            <a:srgbClr val="FCE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has been insightful, but tell me what’s the overall conclusion I should take away?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B6965FEF-3F45-9EBC-79DE-510FB661DCF4}"/>
              </a:ext>
            </a:extLst>
          </p:cNvPr>
          <p:cNvSpPr/>
          <p:nvPr/>
        </p:nvSpPr>
        <p:spPr>
          <a:xfrm>
            <a:off x="2323698" y="4435531"/>
            <a:ext cx="6610752" cy="1198951"/>
          </a:xfrm>
          <a:prstGeom prst="wedgeRectCallout">
            <a:avLst>
              <a:gd name="adj1" fmla="val 59784"/>
              <a:gd name="adj2" fmla="val -35588"/>
            </a:avLst>
          </a:prstGeom>
          <a:solidFill>
            <a:srgbClr val="FCE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course sir, let’s bring everything together and highlight the key takeaways from the analysis.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41E99C-5932-516B-26EA-DB0853EF9BA8}"/>
              </a:ext>
            </a:extLst>
          </p:cNvPr>
          <p:cNvGrpSpPr/>
          <p:nvPr/>
        </p:nvGrpSpPr>
        <p:grpSpPr>
          <a:xfrm>
            <a:off x="9240308" y="3625964"/>
            <a:ext cx="2314727" cy="2520271"/>
            <a:chOff x="9420073" y="3875313"/>
            <a:chExt cx="2079599" cy="22642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CA314BC-AF7E-17E1-B402-F9EF691670D4}"/>
                </a:ext>
              </a:extLst>
            </p:cNvPr>
            <p:cNvGrpSpPr/>
            <p:nvPr/>
          </p:nvGrpSpPr>
          <p:grpSpPr>
            <a:xfrm>
              <a:off x="9420073" y="3875313"/>
              <a:ext cx="2079599" cy="2079599"/>
              <a:chOff x="9420073" y="3875313"/>
              <a:chExt cx="2079599" cy="2079599"/>
            </a:xfrm>
          </p:grpSpPr>
          <p:pic>
            <p:nvPicPr>
              <p:cNvPr id="1026" name="Picture 2" descr="Data analysis - Free professions and jobs icons">
                <a:extLst>
                  <a:ext uri="{FF2B5EF4-FFF2-40B4-BE49-F238E27FC236}">
                    <a16:creationId xmlns:a16="http://schemas.microsoft.com/office/drawing/2014/main" id="{C62C4131-69EC-A704-AA79-01B3EE824F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20073" y="3875313"/>
                <a:ext cx="2079599" cy="20795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Arc 3">
                <a:extLst>
                  <a:ext uri="{FF2B5EF4-FFF2-40B4-BE49-F238E27FC236}">
                    <a16:creationId xmlns:a16="http://schemas.microsoft.com/office/drawing/2014/main" id="{5DFCE260-42CC-7CF2-5E80-2244D299225C}"/>
                  </a:ext>
                </a:extLst>
              </p:cNvPr>
              <p:cNvSpPr/>
              <p:nvPr/>
            </p:nvSpPr>
            <p:spPr>
              <a:xfrm rot="8256740">
                <a:off x="10086730" y="4595869"/>
                <a:ext cx="337605" cy="236335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78641EE-BB0A-E595-42C2-881FC4CD75ED}"/>
                  </a:ext>
                </a:extLst>
              </p:cNvPr>
              <p:cNvSpPr/>
              <p:nvPr/>
            </p:nvSpPr>
            <p:spPr>
              <a:xfrm>
                <a:off x="10096500" y="4572000"/>
                <a:ext cx="45719" cy="635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B7445E1-8FAD-F93B-5C84-14984F6F1239}"/>
                  </a:ext>
                </a:extLst>
              </p:cNvPr>
              <p:cNvSpPr/>
              <p:nvPr/>
            </p:nvSpPr>
            <p:spPr>
              <a:xfrm>
                <a:off x="10232672" y="4572000"/>
                <a:ext cx="45719" cy="635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C50668-1798-0927-22F9-627AA514C215}"/>
                </a:ext>
              </a:extLst>
            </p:cNvPr>
            <p:cNvSpPr txBox="1"/>
            <p:nvPr/>
          </p:nvSpPr>
          <p:spPr>
            <a:xfrm>
              <a:off x="9621672" y="5770245"/>
              <a:ext cx="1562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Data Analyst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1B2828E-1E9A-06CF-FF16-BDAF3E6C2F49}"/>
              </a:ext>
            </a:extLst>
          </p:cNvPr>
          <p:cNvGrpSpPr/>
          <p:nvPr/>
        </p:nvGrpSpPr>
        <p:grpSpPr>
          <a:xfrm>
            <a:off x="647298" y="1589697"/>
            <a:ext cx="1810152" cy="2085727"/>
            <a:chOff x="466725" y="1143000"/>
            <a:chExt cx="1562100" cy="179991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9F3A19-731F-A82D-0A41-7F3A4C99752E}"/>
                </a:ext>
              </a:extLst>
            </p:cNvPr>
            <p:cNvSpPr txBox="1"/>
            <p:nvPr/>
          </p:nvSpPr>
          <p:spPr>
            <a:xfrm>
              <a:off x="466725" y="2573580"/>
              <a:ext cx="1562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>
                  <a:latin typeface="Arial" panose="020B0604020202020204" pitchFamily="34" charset="0"/>
                  <a:cs typeface="Arial" panose="020B0604020202020204" pitchFamily="34" charset="0"/>
                </a:rPr>
                <a:t>Client</a:t>
              </a:r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65CE9AE-661B-100E-262E-3E57F1638A5A}"/>
                </a:ext>
              </a:extLst>
            </p:cNvPr>
            <p:cNvGrpSpPr/>
            <p:nvPr/>
          </p:nvGrpSpPr>
          <p:grpSpPr>
            <a:xfrm>
              <a:off x="580363" y="1143000"/>
              <a:ext cx="1334824" cy="1437774"/>
              <a:chOff x="580363" y="1143000"/>
              <a:chExt cx="1334824" cy="1437774"/>
            </a:xfrm>
          </p:grpSpPr>
          <p:pic>
            <p:nvPicPr>
              <p:cNvPr id="1036" name="Picture 12" descr="Download Free Client Icons in PNG &amp; SVG">
                <a:extLst>
                  <a:ext uri="{FF2B5EF4-FFF2-40B4-BE49-F238E27FC236}">
                    <a16:creationId xmlns:a16="http://schemas.microsoft.com/office/drawing/2014/main" id="{6D0FB948-13F8-8680-FA0E-67A5CDB0CE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40" t="91" r="15780" b="25716"/>
              <a:stretch>
                <a:fillRect/>
              </a:stretch>
            </p:blipFill>
            <p:spPr bwMode="auto">
              <a:xfrm>
                <a:off x="580363" y="1143000"/>
                <a:ext cx="1334824" cy="14377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5777BB80-78BA-6C3D-E06F-441EFCB18277}"/>
                  </a:ext>
                </a:extLst>
              </p:cNvPr>
              <p:cNvSpPr/>
              <p:nvPr/>
            </p:nvSpPr>
            <p:spPr>
              <a:xfrm rot="9077165">
                <a:off x="1116698" y="1550987"/>
                <a:ext cx="355600" cy="279400"/>
              </a:xfrm>
              <a:prstGeom prst="arc">
                <a:avLst>
                  <a:gd name="adj1" fmla="val 17663829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483874A-7E3E-44B9-F979-AF7CA7E1C758}"/>
                  </a:ext>
                </a:extLst>
              </p:cNvPr>
              <p:cNvSpPr/>
              <p:nvPr/>
            </p:nvSpPr>
            <p:spPr>
              <a:xfrm>
                <a:off x="1161933" y="158353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36E67E0-82EE-375B-A777-16DB1DEBEDC2}"/>
                  </a:ext>
                </a:extLst>
              </p:cNvPr>
              <p:cNvSpPr/>
              <p:nvPr/>
            </p:nvSpPr>
            <p:spPr>
              <a:xfrm>
                <a:off x="1316882" y="158353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83C2D6-DB01-A5E5-78D3-AF32B6631B23}"/>
              </a:ext>
            </a:extLst>
          </p:cNvPr>
          <p:cNvGrpSpPr/>
          <p:nvPr/>
        </p:nvGrpSpPr>
        <p:grpSpPr>
          <a:xfrm>
            <a:off x="-21231" y="1391174"/>
            <a:ext cx="5488057" cy="5466826"/>
            <a:chOff x="-21231" y="1391174"/>
            <a:chExt cx="5488057" cy="54668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6378E4-1EDA-6658-9367-49D44D8F479A}"/>
                </a:ext>
              </a:extLst>
            </p:cNvPr>
            <p:cNvSpPr/>
            <p:nvPr/>
          </p:nvSpPr>
          <p:spPr>
            <a:xfrm rot="5400000">
              <a:off x="2682613" y="4073787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311EF9-3BDF-EAC8-814B-D925C4A21E42}"/>
                </a:ext>
              </a:extLst>
            </p:cNvPr>
            <p:cNvSpPr/>
            <p:nvPr/>
          </p:nvSpPr>
          <p:spPr>
            <a:xfrm rot="10800000">
              <a:off x="-21231" y="1391174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F625E8-74F9-4217-CB81-2B50B6F5E1A8}"/>
              </a:ext>
            </a:extLst>
          </p:cNvPr>
          <p:cNvGrpSpPr/>
          <p:nvPr/>
        </p:nvGrpSpPr>
        <p:grpSpPr>
          <a:xfrm rot="10800000">
            <a:off x="6703943" y="0"/>
            <a:ext cx="5488057" cy="5466826"/>
            <a:chOff x="-21231" y="1391174"/>
            <a:chExt cx="5488057" cy="54668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05081F-E3FD-5A4D-A5B6-432D474C46F5}"/>
                </a:ext>
              </a:extLst>
            </p:cNvPr>
            <p:cNvSpPr/>
            <p:nvPr/>
          </p:nvSpPr>
          <p:spPr>
            <a:xfrm rot="5400000">
              <a:off x="2682613" y="4073787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BDE689-6F9D-ACFA-965A-19E441DF5934}"/>
                </a:ext>
              </a:extLst>
            </p:cNvPr>
            <p:cNvSpPr/>
            <p:nvPr/>
          </p:nvSpPr>
          <p:spPr>
            <a:xfrm rot="10800000">
              <a:off x="-21231" y="1391174"/>
              <a:ext cx="101600" cy="54668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99446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49AC-FFEF-9754-F651-2095B738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94FAC2-C17E-5A93-2C91-6E8F2C8F0422}"/>
              </a:ext>
            </a:extLst>
          </p:cNvPr>
          <p:cNvSpPr/>
          <p:nvPr/>
        </p:nvSpPr>
        <p:spPr>
          <a:xfrm>
            <a:off x="480910" y="129161"/>
            <a:ext cx="10078879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5. CONCLUSION</a:t>
            </a:r>
            <a:endParaRPr lang="en-US" sz="2800" b="1" dirty="0">
              <a:latin typeface="Arial" panose="020B0604020202020204" pitchFamily="34" charset="0"/>
              <a:ea typeface="Open Sans SemiBold" pitchFamily="2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E9830D-5710-1303-F7E5-C40E8D01ED66}"/>
              </a:ext>
            </a:extLst>
          </p:cNvPr>
          <p:cNvSpPr/>
          <p:nvPr/>
        </p:nvSpPr>
        <p:spPr>
          <a:xfrm>
            <a:off x="746125" y="894773"/>
            <a:ext cx="10699750" cy="813915"/>
          </a:xfrm>
          <a:custGeom>
            <a:avLst/>
            <a:gdLst>
              <a:gd name="connsiteX0" fmla="*/ 4663281 w 9853612"/>
              <a:gd name="connsiteY0" fmla="*/ 0 h 858837"/>
              <a:gd name="connsiteX1" fmla="*/ 5190331 w 9853612"/>
              <a:gd name="connsiteY1" fmla="*/ 0 h 858837"/>
              <a:gd name="connsiteX2" fmla="*/ 5190331 w 9853612"/>
              <a:gd name="connsiteY2" fmla="*/ 1 h 858837"/>
              <a:gd name="connsiteX3" fmla="*/ 9853612 w 9853612"/>
              <a:gd name="connsiteY3" fmla="*/ 1 h 858837"/>
              <a:gd name="connsiteX4" fmla="*/ 9853612 w 9853612"/>
              <a:gd name="connsiteY4" fmla="*/ 642938 h 858837"/>
              <a:gd name="connsiteX5" fmla="*/ 5191792 w 9853612"/>
              <a:gd name="connsiteY5" fmla="*/ 642938 h 858837"/>
              <a:gd name="connsiteX6" fmla="*/ 4926806 w 9853612"/>
              <a:gd name="connsiteY6" fmla="*/ 858837 h 858837"/>
              <a:gd name="connsiteX7" fmla="*/ 4661821 w 9853612"/>
              <a:gd name="connsiteY7" fmla="*/ 642938 h 858837"/>
              <a:gd name="connsiteX8" fmla="*/ 0 w 9853612"/>
              <a:gd name="connsiteY8" fmla="*/ 642938 h 858837"/>
              <a:gd name="connsiteX9" fmla="*/ 0 w 9853612"/>
              <a:gd name="connsiteY9" fmla="*/ 1 h 858837"/>
              <a:gd name="connsiteX10" fmla="*/ 4663281 w 9853612"/>
              <a:gd name="connsiteY10" fmla="*/ 1 h 8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53612" h="858837">
                <a:moveTo>
                  <a:pt x="4663281" y="0"/>
                </a:moveTo>
                <a:lnTo>
                  <a:pt x="5190331" y="0"/>
                </a:lnTo>
                <a:lnTo>
                  <a:pt x="5190331" y="1"/>
                </a:lnTo>
                <a:lnTo>
                  <a:pt x="9853612" y="1"/>
                </a:lnTo>
                <a:lnTo>
                  <a:pt x="9853612" y="642938"/>
                </a:lnTo>
                <a:lnTo>
                  <a:pt x="5191792" y="642938"/>
                </a:lnTo>
                <a:lnTo>
                  <a:pt x="4926806" y="858837"/>
                </a:lnTo>
                <a:lnTo>
                  <a:pt x="4661821" y="642938"/>
                </a:lnTo>
                <a:lnTo>
                  <a:pt x="0" y="642938"/>
                </a:lnTo>
                <a:lnTo>
                  <a:pt x="0" y="1"/>
                </a:lnTo>
                <a:lnTo>
                  <a:pt x="4663281" y="1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ea typeface="Open Sans SemiBold" pitchFamily="2" charset="0"/>
              <a:cs typeface="Arial" panose="020B0604020202020204" pitchFamily="34" charset="0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714B8C6-5BFE-416E-E822-38AA2137C212}"/>
              </a:ext>
            </a:extLst>
          </p:cNvPr>
          <p:cNvSpPr/>
          <p:nvPr/>
        </p:nvSpPr>
        <p:spPr>
          <a:xfrm>
            <a:off x="4057730" y="796390"/>
            <a:ext cx="4076540" cy="813915"/>
          </a:xfrm>
          <a:prstGeom prst="rect">
            <a:avLst/>
          </a:prstGeom>
          <a:noFill/>
          <a:ln/>
          <a:effectLst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2000" b="1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BEST REVENUE GENERATED PRODUCT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4A83C-910C-01DB-E26F-50678D435EBD}"/>
              </a:ext>
            </a:extLst>
          </p:cNvPr>
          <p:cNvSpPr/>
          <p:nvPr/>
        </p:nvSpPr>
        <p:spPr>
          <a:xfrm>
            <a:off x="1660840" y="1841371"/>
            <a:ext cx="8870321" cy="676728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Open Sans SemiBold" pitchFamily="2" charset="0"/>
              <a:cs typeface="Arial" panose="020B0604020202020204" pitchFamily="34" charset="0"/>
            </a:endParaRPr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C2EF36F6-54A1-C9DB-63E9-35ACB5A86650}"/>
              </a:ext>
            </a:extLst>
          </p:cNvPr>
          <p:cNvSpPr/>
          <p:nvPr/>
        </p:nvSpPr>
        <p:spPr>
          <a:xfrm>
            <a:off x="9035911" y="1970446"/>
            <a:ext cx="1169737" cy="536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Revenue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241628.1</a:t>
            </a:r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96374106-60A5-4200-E345-AF4A6731A75D}"/>
              </a:ext>
            </a:extLst>
          </p:cNvPr>
          <p:cNvSpPr/>
          <p:nvPr/>
        </p:nvSpPr>
        <p:spPr>
          <a:xfrm>
            <a:off x="4702148" y="1956743"/>
            <a:ext cx="2950554" cy="28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Average Revenue Per Unit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11.66</a:t>
            </a:r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B1626A7B-BE69-D8FF-2B3F-F614CBBC87F1}"/>
              </a:ext>
            </a:extLst>
          </p:cNvPr>
          <p:cNvSpPr/>
          <p:nvPr/>
        </p:nvSpPr>
        <p:spPr>
          <a:xfrm>
            <a:off x="1904468" y="1971817"/>
            <a:ext cx="1989964" cy="67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Product Type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Skincare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513BBA7-36F0-A9FA-1082-6826E2A6A755}"/>
              </a:ext>
            </a:extLst>
          </p:cNvPr>
          <p:cNvSpPr/>
          <p:nvPr/>
        </p:nvSpPr>
        <p:spPr>
          <a:xfrm>
            <a:off x="1821426" y="4927486"/>
            <a:ext cx="8549148" cy="813915"/>
          </a:xfrm>
          <a:custGeom>
            <a:avLst/>
            <a:gdLst>
              <a:gd name="connsiteX0" fmla="*/ 4663281 w 9853612"/>
              <a:gd name="connsiteY0" fmla="*/ 0 h 858837"/>
              <a:gd name="connsiteX1" fmla="*/ 5190331 w 9853612"/>
              <a:gd name="connsiteY1" fmla="*/ 0 h 858837"/>
              <a:gd name="connsiteX2" fmla="*/ 5190331 w 9853612"/>
              <a:gd name="connsiteY2" fmla="*/ 1 h 858837"/>
              <a:gd name="connsiteX3" fmla="*/ 9853612 w 9853612"/>
              <a:gd name="connsiteY3" fmla="*/ 1 h 858837"/>
              <a:gd name="connsiteX4" fmla="*/ 9853612 w 9853612"/>
              <a:gd name="connsiteY4" fmla="*/ 642938 h 858837"/>
              <a:gd name="connsiteX5" fmla="*/ 5191792 w 9853612"/>
              <a:gd name="connsiteY5" fmla="*/ 642938 h 858837"/>
              <a:gd name="connsiteX6" fmla="*/ 4926806 w 9853612"/>
              <a:gd name="connsiteY6" fmla="*/ 858837 h 858837"/>
              <a:gd name="connsiteX7" fmla="*/ 4661821 w 9853612"/>
              <a:gd name="connsiteY7" fmla="*/ 642938 h 858837"/>
              <a:gd name="connsiteX8" fmla="*/ 0 w 9853612"/>
              <a:gd name="connsiteY8" fmla="*/ 642938 h 858837"/>
              <a:gd name="connsiteX9" fmla="*/ 0 w 9853612"/>
              <a:gd name="connsiteY9" fmla="*/ 1 h 858837"/>
              <a:gd name="connsiteX10" fmla="*/ 4663281 w 9853612"/>
              <a:gd name="connsiteY10" fmla="*/ 1 h 8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53612" h="858837">
                <a:moveTo>
                  <a:pt x="4663281" y="0"/>
                </a:moveTo>
                <a:lnTo>
                  <a:pt x="5190331" y="0"/>
                </a:lnTo>
                <a:lnTo>
                  <a:pt x="5190331" y="1"/>
                </a:lnTo>
                <a:lnTo>
                  <a:pt x="9853612" y="1"/>
                </a:lnTo>
                <a:lnTo>
                  <a:pt x="9853612" y="642938"/>
                </a:lnTo>
                <a:lnTo>
                  <a:pt x="5191792" y="642938"/>
                </a:lnTo>
                <a:lnTo>
                  <a:pt x="4926806" y="858837"/>
                </a:lnTo>
                <a:lnTo>
                  <a:pt x="4661821" y="642938"/>
                </a:lnTo>
                <a:lnTo>
                  <a:pt x="0" y="642938"/>
                </a:lnTo>
                <a:lnTo>
                  <a:pt x="0" y="1"/>
                </a:lnTo>
                <a:lnTo>
                  <a:pt x="4663281" y="1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ea typeface="Open Sans SemiBold" pitchFamily="2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8EC2D8-52B2-EE99-FD88-DA65124C3DF3}"/>
              </a:ext>
            </a:extLst>
          </p:cNvPr>
          <p:cNvSpPr/>
          <p:nvPr/>
        </p:nvSpPr>
        <p:spPr>
          <a:xfrm>
            <a:off x="2188906" y="5874084"/>
            <a:ext cx="7814188" cy="676728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Open Sans SemiBold" pitchFamily="2" charset="0"/>
              <a:cs typeface="Arial" panose="020B0604020202020204" pitchFamily="34" charset="0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80E15EDB-6EF3-0DFF-B45A-B4398E767DF7}"/>
              </a:ext>
            </a:extLst>
          </p:cNvPr>
          <p:cNvSpPr/>
          <p:nvPr/>
        </p:nvSpPr>
        <p:spPr>
          <a:xfrm>
            <a:off x="3111769" y="4813699"/>
            <a:ext cx="5968463" cy="813915"/>
          </a:xfrm>
          <a:prstGeom prst="rect">
            <a:avLst/>
          </a:prstGeom>
          <a:noFill/>
          <a:ln/>
          <a:effectLst/>
        </p:spPr>
        <p:txBody>
          <a:bodyPr wrap="non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n-US" sz="2000" b="1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HIGHEST SUPPLIER PERFORMANCE 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14D53B5-6EBB-62B4-4EF5-D271E5C769F2}"/>
              </a:ext>
            </a:extLst>
          </p:cNvPr>
          <p:cNvSpPr/>
          <p:nvPr/>
        </p:nvSpPr>
        <p:spPr>
          <a:xfrm>
            <a:off x="2689278" y="5953947"/>
            <a:ext cx="2648643" cy="676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Average Revenue Per Unit 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Supplier 1 is 14.22</a:t>
            </a: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E027A01A-8453-EE51-5462-515FDF304457}"/>
              </a:ext>
            </a:extLst>
          </p:cNvPr>
          <p:cNvSpPr/>
          <p:nvPr/>
        </p:nvSpPr>
        <p:spPr>
          <a:xfrm>
            <a:off x="5660583" y="5969109"/>
            <a:ext cx="4265666" cy="676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Shorter Lead Time And Revenue Efficiency 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10,659.86 of Supplier 1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D79021A-87D0-7033-C438-9C515C1B42BC}"/>
              </a:ext>
            </a:extLst>
          </p:cNvPr>
          <p:cNvSpPr/>
          <p:nvPr/>
        </p:nvSpPr>
        <p:spPr>
          <a:xfrm>
            <a:off x="1115276" y="2920683"/>
            <a:ext cx="9961449" cy="813915"/>
          </a:xfrm>
          <a:custGeom>
            <a:avLst/>
            <a:gdLst>
              <a:gd name="connsiteX0" fmla="*/ 4663281 w 9853612"/>
              <a:gd name="connsiteY0" fmla="*/ 0 h 858837"/>
              <a:gd name="connsiteX1" fmla="*/ 5190331 w 9853612"/>
              <a:gd name="connsiteY1" fmla="*/ 0 h 858837"/>
              <a:gd name="connsiteX2" fmla="*/ 5190331 w 9853612"/>
              <a:gd name="connsiteY2" fmla="*/ 1 h 858837"/>
              <a:gd name="connsiteX3" fmla="*/ 9853612 w 9853612"/>
              <a:gd name="connsiteY3" fmla="*/ 1 h 858837"/>
              <a:gd name="connsiteX4" fmla="*/ 9853612 w 9853612"/>
              <a:gd name="connsiteY4" fmla="*/ 642938 h 858837"/>
              <a:gd name="connsiteX5" fmla="*/ 5191792 w 9853612"/>
              <a:gd name="connsiteY5" fmla="*/ 642938 h 858837"/>
              <a:gd name="connsiteX6" fmla="*/ 4926806 w 9853612"/>
              <a:gd name="connsiteY6" fmla="*/ 858837 h 858837"/>
              <a:gd name="connsiteX7" fmla="*/ 4661821 w 9853612"/>
              <a:gd name="connsiteY7" fmla="*/ 642938 h 858837"/>
              <a:gd name="connsiteX8" fmla="*/ 0 w 9853612"/>
              <a:gd name="connsiteY8" fmla="*/ 642938 h 858837"/>
              <a:gd name="connsiteX9" fmla="*/ 0 w 9853612"/>
              <a:gd name="connsiteY9" fmla="*/ 1 h 858837"/>
              <a:gd name="connsiteX10" fmla="*/ 4663281 w 9853612"/>
              <a:gd name="connsiteY10" fmla="*/ 1 h 8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53612" h="858837">
                <a:moveTo>
                  <a:pt x="4663281" y="0"/>
                </a:moveTo>
                <a:lnTo>
                  <a:pt x="5190331" y="0"/>
                </a:lnTo>
                <a:lnTo>
                  <a:pt x="5190331" y="1"/>
                </a:lnTo>
                <a:lnTo>
                  <a:pt x="9853612" y="1"/>
                </a:lnTo>
                <a:lnTo>
                  <a:pt x="9853612" y="642938"/>
                </a:lnTo>
                <a:lnTo>
                  <a:pt x="5191792" y="642938"/>
                </a:lnTo>
                <a:lnTo>
                  <a:pt x="4926806" y="858837"/>
                </a:lnTo>
                <a:lnTo>
                  <a:pt x="4661821" y="642938"/>
                </a:lnTo>
                <a:lnTo>
                  <a:pt x="0" y="642938"/>
                </a:lnTo>
                <a:lnTo>
                  <a:pt x="0" y="1"/>
                </a:lnTo>
                <a:lnTo>
                  <a:pt x="4663281" y="1"/>
                </a:lnTo>
                <a:close/>
              </a:path>
            </a:pathLst>
          </a:custGeom>
          <a:solidFill>
            <a:srgbClr val="FFC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ea typeface="Open Sans SemiBold" pitchFamily="2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753163-FDC8-FA21-01CF-856DA2B81236}"/>
              </a:ext>
            </a:extLst>
          </p:cNvPr>
          <p:cNvSpPr/>
          <p:nvPr/>
        </p:nvSpPr>
        <p:spPr>
          <a:xfrm>
            <a:off x="2015307" y="3867281"/>
            <a:ext cx="8161386" cy="676728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Open Sans SemiBold" pitchFamily="2" charset="0"/>
              <a:cs typeface="Arial" panose="020B0604020202020204" pitchFamily="34" charset="0"/>
            </a:endParaRP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327DE78F-7FA0-547A-B71E-84E69F41726E}"/>
              </a:ext>
            </a:extLst>
          </p:cNvPr>
          <p:cNvSpPr/>
          <p:nvPr/>
        </p:nvSpPr>
        <p:spPr>
          <a:xfrm>
            <a:off x="1726786" y="2840820"/>
            <a:ext cx="8738428" cy="813915"/>
          </a:xfrm>
          <a:prstGeom prst="rect">
            <a:avLst/>
          </a:prstGeom>
          <a:noFill/>
          <a:ln/>
          <a:effectLst/>
        </p:spPr>
        <p:txBody>
          <a:bodyPr wrap="non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n-US" sz="2000" b="1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DEMOGRAPHIC AND LOCATION SEGMENTATION REVENUE</a:t>
            </a: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8AE3E6B0-4F45-4F48-C219-E2C7D2579AE6}"/>
              </a:ext>
            </a:extLst>
          </p:cNvPr>
          <p:cNvSpPr/>
          <p:nvPr/>
        </p:nvSpPr>
        <p:spPr>
          <a:xfrm>
            <a:off x="2790878" y="3962613"/>
            <a:ext cx="2648643" cy="676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Location Segmentation Revenue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Mumbai 137755.03</a:t>
            </a: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79CE2EE-9C5B-A64D-B57F-E60471C34506}"/>
              </a:ext>
            </a:extLst>
          </p:cNvPr>
          <p:cNvSpPr/>
          <p:nvPr/>
        </p:nvSpPr>
        <p:spPr>
          <a:xfrm>
            <a:off x="6800986" y="3970096"/>
            <a:ext cx="2648643" cy="676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Demographic Segmentation Revenue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rPr>
              <a:t>Female</a:t>
            </a:r>
          </a:p>
        </p:txBody>
      </p:sp>
    </p:spTree>
    <p:extLst>
      <p:ext uri="{BB962C8B-B14F-4D97-AF65-F5344CB8AC3E}">
        <p14:creationId xmlns:p14="http://schemas.microsoft.com/office/powerpoint/2010/main" val="278079217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0447B-94A1-B29B-B56F-51B28575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273FED-2D05-9D29-BD31-95C24B7B5F77}"/>
              </a:ext>
            </a:extLst>
          </p:cNvPr>
          <p:cNvSpPr/>
          <p:nvPr/>
        </p:nvSpPr>
        <p:spPr>
          <a:xfrm>
            <a:off x="-152400" y="0"/>
            <a:ext cx="12477750" cy="699135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3893E-4A61-EDF1-D3A8-4E3E6E950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28328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Thank you :)</a:t>
            </a:r>
          </a:p>
        </p:txBody>
      </p:sp>
    </p:spTree>
    <p:extLst>
      <p:ext uri="{BB962C8B-B14F-4D97-AF65-F5344CB8AC3E}">
        <p14:creationId xmlns:p14="http://schemas.microsoft.com/office/powerpoint/2010/main" val="356202949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614</Words>
  <Application>Microsoft Office PowerPoint</Application>
  <PresentationFormat>Widescreen</PresentationFormat>
  <Paragraphs>132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2. INTRODUCTION</vt:lpstr>
      <vt:lpstr>PowerPoint Presentation</vt:lpstr>
      <vt:lpstr>QUESTION 01</vt:lpstr>
      <vt:lpstr>PowerPoint Presentation</vt:lpstr>
      <vt:lpstr>PowerPoint Presentation</vt:lpstr>
      <vt:lpstr>QUESTION 02</vt:lpstr>
      <vt:lpstr>PowerPoint Presentation</vt:lpstr>
      <vt:lpstr>QUESTION 03</vt:lpstr>
      <vt:lpstr>REVENUE BY REGION</vt:lpstr>
      <vt:lpstr>SUPPLIER PERFORMANCE</vt:lpstr>
      <vt:lpstr>QUESTION 04</vt:lpstr>
      <vt:lpstr>PowerPoint Presentation</vt:lpstr>
      <vt:lpstr>Thank you :)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TURAB ALI ZAIDI</dc:creator>
  <cp:lastModifiedBy>SYED TURAB ALI ZAIDI</cp:lastModifiedBy>
  <cp:revision>34</cp:revision>
  <dcterms:created xsi:type="dcterms:W3CDTF">2025-09-21T08:15:33Z</dcterms:created>
  <dcterms:modified xsi:type="dcterms:W3CDTF">2025-09-27T21:40:38Z</dcterms:modified>
</cp:coreProperties>
</file>